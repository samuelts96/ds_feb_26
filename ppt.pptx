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slide" Target="slides/slide20.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8466805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8466805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84668053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84668053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84668053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84668053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84668053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8466805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84668053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84668053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846680533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0" name="Google Shape;170;g3c846680533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
              <a:t>In stage 1, our goal is to predict monthly credit card spend (CCAvg) as a behavioural signal. we selected a set of financial and demographic predictors that are plausible drivers of spending. We used a three-way split — train, validation, and test — so that model selection happens only on the validation set, and the test set remains untouched for final performance. Since some algorithms are scale-sensitive, we standardized features with StandardScaler. Importantly, Wefitted the scaler only on the training data and then applied it to validation and test sets to avoid leakage.</a:t>
            </a:r>
            <a:endParaRPr/>
          </a:p>
        </p:txBody>
      </p:sp>
      <p:sp>
        <p:nvSpPr>
          <p:cNvPr id="171" name="Google Shape;171;g3c846680533_0_78: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846680533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8" name="Google Shape;178;g3c846680533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
              <a:t>To compare models fairly, Webuilt a reusable evaluation function. It trains each model, predicts on training and validation sets, then reports RMSE and R² for both. RMSE tells me the typical prediction error in the same units as CCAvg, while R² tells me how much variance is explained. Comparing training vs validation metrics is critical — it shows whether a model is overfitting (very good train, poor validation) or underfitting (poor on both). This gave me a consistent, scientific basis for model selection.</a:t>
            </a:r>
            <a:endParaRPr/>
          </a:p>
        </p:txBody>
      </p:sp>
      <p:sp>
        <p:nvSpPr>
          <p:cNvPr id="179" name="Google Shape;179;g3c846680533_0_85: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846680533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6" name="Google Shape;186;g3c846680533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
              <a:t>We tested a range of regression models to ensure Wewasn’t assuming linearity. Linear and regularised models provide interpretable baselines. Tree ensembles capture non-linear patterns and interactions. SVR can model complex relationships using kernels but requires standardized features. We handled scaling carefully: only models that require scaling were trained on scaled data, while tree-based models used raw values. This prevents unfair performance comparisons.</a:t>
            </a:r>
            <a:endParaRPr/>
          </a:p>
        </p:txBody>
      </p:sp>
      <p:sp>
        <p:nvSpPr>
          <p:cNvPr id="187" name="Google Shape;187;g3c846680533_0_92: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846680533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4" name="Google Shape;194;g3c846680533_0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
              <a:t>These results show why train-only performance is misleading. The Decision Tree achieved nearly perfect training metrics, but validation performance collapsed, even producing a negative R² — a classic sign of overfitting. Lasso performed poorly on both train and validation, suggesting underfitting. The best generalization came from SVR, which achieved the lowest validation RMSE and the highest validation R² among the tested models. This indicates that the relationship between predictors and spending is not purely linear and benefits from a more flexible model.</a:t>
            </a:r>
            <a:endParaRPr/>
          </a:p>
        </p:txBody>
      </p:sp>
      <p:sp>
        <p:nvSpPr>
          <p:cNvPr id="195" name="Google Shape;195;g3c846680533_0_99: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846680533_0_1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c846680533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846680533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9" name="Google Shape;209;g3c846680533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
              <a:t>We  selected the final regression model using validation RMSE as the selection criterion, which identified SVR as the best generalizing model. Then We evaluated it once on the untouched test set to estimate real-world performance. While R² on test is moderate, this is expected in behavioural prediction where many unobserved factors influence spending. The key outcome is that the model produces a consistent behavioural estimate. We then generated predictions for the full dataset and stored them as a new feature, CCPred. This feature becomes an input to stage 2, where we predict personal loan acceptance using both customer attributes and predicted behavioural spending.</a:t>
            </a:r>
            <a:endParaRPr/>
          </a:p>
        </p:txBody>
      </p:sp>
      <p:sp>
        <p:nvSpPr>
          <p:cNvPr id="210" name="Google Shape;210;g3c846680533_0_112: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84668053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84668053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84668053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84668053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846680533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c84668053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84668053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84668053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84668053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84668053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84668053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84668053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846680533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846680533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846680533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846680533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4" name="Shape 124"/>
        <p:cNvGrpSpPr/>
        <p:nvPr/>
      </p:nvGrpSpPr>
      <p:grpSpPr>
        <a:xfrm>
          <a:off x="0" y="0"/>
          <a:ext cx="0" cy="0"/>
          <a:chOff x="0" y="0"/>
          <a:chExt cx="0" cy="0"/>
        </a:xfrm>
      </p:grpSpPr>
      <p:sp>
        <p:nvSpPr>
          <p:cNvPr id="125" name="Google Shape;125;p13"/>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2800"/>
              <a:buNone/>
              <a:defRPr sz="3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26" name="Google Shape;126;p13"/>
          <p:cNvSpPr/>
          <p:nvPr>
            <p:ph idx="2" type="pic"/>
          </p:nvPr>
        </p:nvSpPr>
        <p:spPr>
          <a:xfrm>
            <a:off x="3887788" y="740569"/>
            <a:ext cx="4629300" cy="3655200"/>
          </a:xfrm>
          <a:prstGeom prst="rect">
            <a:avLst/>
          </a:prstGeom>
          <a:noFill/>
          <a:ln>
            <a:noFill/>
          </a:ln>
        </p:spPr>
      </p:sp>
      <p:sp>
        <p:nvSpPr>
          <p:cNvPr id="127" name="Google Shape;127;p13"/>
          <p:cNvSpPr txBox="1"/>
          <p:nvPr>
            <p:ph idx="1" type="body"/>
          </p:nvPr>
        </p:nvSpPr>
        <p:spPr>
          <a:xfrm>
            <a:off x="630238" y="1543050"/>
            <a:ext cx="2949600" cy="285870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1200"/>
              </a:spcBef>
              <a:spcAft>
                <a:spcPts val="0"/>
              </a:spcAft>
              <a:buClr>
                <a:schemeClr val="dk1"/>
              </a:buClr>
              <a:buSzPts val="1000"/>
              <a:buNone/>
              <a:defRPr sz="1000"/>
            </a:lvl7pPr>
            <a:lvl8pPr indent="-228600" lvl="7" marL="3657600" algn="l">
              <a:lnSpc>
                <a:spcPct val="90000"/>
              </a:lnSpc>
              <a:spcBef>
                <a:spcPts val="1200"/>
              </a:spcBef>
              <a:spcAft>
                <a:spcPts val="0"/>
              </a:spcAft>
              <a:buClr>
                <a:schemeClr val="dk1"/>
              </a:buClr>
              <a:buSzPts val="1000"/>
              <a:buNone/>
              <a:defRPr sz="1000"/>
            </a:lvl8pPr>
            <a:lvl9pPr indent="-228600" lvl="8" marL="4114800" algn="l">
              <a:lnSpc>
                <a:spcPct val="90000"/>
              </a:lnSpc>
              <a:spcBef>
                <a:spcPts val="1200"/>
              </a:spcBef>
              <a:spcAft>
                <a:spcPts val="1200"/>
              </a:spcAft>
              <a:buClr>
                <a:schemeClr val="dk1"/>
              </a:buClr>
              <a:buSzPts val="1000"/>
              <a:buNone/>
              <a:defRPr sz="1000"/>
            </a:lvl9pPr>
          </a:lstStyle>
          <a:p/>
        </p:txBody>
      </p:sp>
      <p:sp>
        <p:nvSpPr>
          <p:cNvPr id="128" name="Google Shape;128;p13"/>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3"/>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3"/>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Nunito"/>
              <a:ea typeface="Nunito"/>
              <a:cs typeface="Nunito"/>
              <a:sym typeface="Nuni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Loan Target Prediction</a:t>
            </a:r>
            <a:endParaRPr/>
          </a:p>
        </p:txBody>
      </p:sp>
      <p:sp>
        <p:nvSpPr>
          <p:cNvPr id="136" name="Google Shape;136;p14"/>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440"/>
              <a:buNone/>
            </a:pPr>
            <a:r>
              <a:rPr lang="en" sz="1140"/>
              <a:t>By:</a:t>
            </a:r>
            <a:endParaRPr sz="1140"/>
          </a:p>
          <a:p>
            <a:pPr indent="0" lvl="0" marL="0" rtl="0" algn="ctr">
              <a:lnSpc>
                <a:spcPct val="80000"/>
              </a:lnSpc>
              <a:spcBef>
                <a:spcPts val="0"/>
              </a:spcBef>
              <a:spcAft>
                <a:spcPts val="0"/>
              </a:spcAft>
              <a:buSzPts val="440"/>
              <a:buNone/>
            </a:pPr>
            <a:r>
              <a:rPr lang="en" sz="1140"/>
              <a:t>Naresh Peta</a:t>
            </a:r>
            <a:endParaRPr sz="1140"/>
          </a:p>
          <a:p>
            <a:pPr indent="0" lvl="0" marL="0" rtl="0" algn="ctr">
              <a:lnSpc>
                <a:spcPct val="80000"/>
              </a:lnSpc>
              <a:spcBef>
                <a:spcPts val="0"/>
              </a:spcBef>
              <a:spcAft>
                <a:spcPts val="0"/>
              </a:spcAft>
              <a:buSzPts val="440"/>
              <a:buNone/>
            </a:pPr>
            <a:r>
              <a:rPr lang="en" sz="1140"/>
              <a:t>Ala</a:t>
            </a:r>
            <a:endParaRPr sz="1140"/>
          </a:p>
          <a:p>
            <a:pPr indent="0" lvl="0" marL="0" rtl="0" algn="ctr">
              <a:lnSpc>
                <a:spcPct val="80000"/>
              </a:lnSpc>
              <a:spcBef>
                <a:spcPts val="0"/>
              </a:spcBef>
              <a:spcAft>
                <a:spcPts val="0"/>
              </a:spcAft>
              <a:buSzPts val="440"/>
              <a:buNone/>
            </a:pPr>
            <a:r>
              <a:rPr lang="en" sz="1140"/>
              <a:t>Teja</a:t>
            </a:r>
            <a:endParaRPr sz="114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Business Concept</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AllLife bank core strategy focuses on building long-term customer relationships and increasing profitability through interest income.</a:t>
            </a:r>
            <a:endParaRPr/>
          </a:p>
          <a:p>
            <a:pPr indent="0" lvl="0" marL="0" rtl="0" algn="l">
              <a:spcBef>
                <a:spcPts val="1200"/>
              </a:spcBef>
              <a:spcAft>
                <a:spcPts val="0"/>
              </a:spcAft>
              <a:buNone/>
            </a:pPr>
            <a:r>
              <a:rPr lang="en"/>
              <a:t>loans generate higher interest income, expanding the personal loan portfolio is critical for sustainable growth.</a:t>
            </a:r>
            <a:endParaRPr/>
          </a:p>
          <a:p>
            <a:pPr indent="0" lvl="0" marL="0" rtl="0" algn="l">
              <a:spcBef>
                <a:spcPts val="1200"/>
              </a:spcBef>
              <a:spcAft>
                <a:spcPts val="1200"/>
              </a:spcAft>
              <a:buNone/>
            </a:pPr>
            <a:r>
              <a:rPr lang="en"/>
              <a:t>To improve loan conversions, the bank aims to shift from basic demographic targeting to a data-driven strategy based on customer spending behavior.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Objective</a:t>
            </a:r>
            <a:endParaRPr/>
          </a:p>
        </p:txBody>
      </p:sp>
      <p:sp>
        <p:nvSpPr>
          <p:cNvPr id="148" name="Google Shape;148;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Predict customers’ expected monthly credit card spending.</a:t>
            </a:r>
            <a:endParaRPr/>
          </a:p>
          <a:p>
            <a:pPr indent="-311150" lvl="0" marL="457200" rtl="0" algn="l">
              <a:spcBef>
                <a:spcPts val="0"/>
              </a:spcBef>
              <a:spcAft>
                <a:spcPts val="0"/>
              </a:spcAft>
              <a:buSzPts val="1300"/>
              <a:buChar char="●"/>
            </a:pPr>
            <a:r>
              <a:rPr lang="en"/>
              <a:t>Use spending predictions and financial data to identify customers most likely to accept a personal loan offer.</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Cleaning and Data Finding</a:t>
            </a:r>
            <a:endParaRPr/>
          </a:p>
        </p:txBody>
      </p:sp>
      <p:sp>
        <p:nvSpPr>
          <p:cNvPr id="154" name="Google Shape;154;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There are no null values and Duplicates in the Dataset.</a:t>
            </a:r>
            <a:endParaRPr/>
          </a:p>
          <a:p>
            <a:pPr indent="-311150" lvl="0" marL="457200" rtl="0" algn="l">
              <a:spcBef>
                <a:spcPts val="0"/>
              </a:spcBef>
              <a:spcAft>
                <a:spcPts val="0"/>
              </a:spcAft>
              <a:buSzPts val="1300"/>
              <a:buAutoNum type="arabicPeriod"/>
            </a:pPr>
            <a:r>
              <a:rPr lang="en"/>
              <a:t>Invalided rows (</a:t>
            </a:r>
            <a:r>
              <a:rPr lang="en"/>
              <a:t>Experience</a:t>
            </a:r>
            <a:r>
              <a:rPr lang="en"/>
              <a:t> column containing negative values).</a:t>
            </a:r>
            <a:endParaRPr/>
          </a:p>
          <a:p>
            <a:pPr indent="0" lvl="0" marL="0" rtl="0" algn="l">
              <a:spcBef>
                <a:spcPts val="1200"/>
              </a:spcBef>
              <a:spcAft>
                <a:spcPts val="0"/>
              </a:spcAft>
              <a:buNone/>
            </a:pPr>
            <a:r>
              <a:rPr lang="en"/>
              <a:t>i.e : [-1,-2,-3] found by using unique.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Resolving </a:t>
            </a:r>
            <a:r>
              <a:rPr lang="en"/>
              <a:t>invalid</a:t>
            </a:r>
            <a:r>
              <a:rPr lang="en"/>
              <a:t> rows</a:t>
            </a:r>
            <a:endParaRPr/>
          </a:p>
        </p:txBody>
      </p:sp>
      <p:sp>
        <p:nvSpPr>
          <p:cNvPr id="160" name="Google Shape;160;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Instead</a:t>
            </a:r>
            <a:r>
              <a:rPr lang="en"/>
              <a:t> of dropping the </a:t>
            </a:r>
            <a:r>
              <a:rPr lang="en"/>
              <a:t>invalid</a:t>
            </a:r>
            <a:r>
              <a:rPr lang="en"/>
              <a:t> rows we are filling the negative values with median.</a:t>
            </a:r>
            <a:endParaRPr/>
          </a:p>
          <a:p>
            <a:pPr indent="0" lvl="0" marL="0" rtl="0" algn="l">
              <a:spcBef>
                <a:spcPts val="1200"/>
              </a:spcBef>
              <a:spcAft>
                <a:spcPts val="0"/>
              </a:spcAft>
              <a:buNone/>
            </a:pPr>
            <a:r>
              <a:rPr lang="en"/>
              <a:t>Reason:</a:t>
            </a:r>
            <a:endParaRPr/>
          </a:p>
          <a:p>
            <a:pPr indent="0" lvl="0" marL="0" rtl="0" algn="l">
              <a:spcBef>
                <a:spcPts val="1200"/>
              </a:spcBef>
              <a:spcAft>
                <a:spcPts val="0"/>
              </a:spcAft>
              <a:buNone/>
            </a:pPr>
            <a:r>
              <a:rPr lang="en"/>
              <a:t>Most of the negative value </a:t>
            </a:r>
            <a:r>
              <a:rPr lang="en"/>
              <a:t>audience</a:t>
            </a:r>
            <a:r>
              <a:rPr lang="en"/>
              <a:t> ages range between 20 to 30.</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There are 51 </a:t>
            </a:r>
            <a:r>
              <a:rPr lang="en"/>
              <a:t>invalid</a:t>
            </a:r>
            <a:r>
              <a:rPr lang="en"/>
              <a:t> rows even though it is 1% of the data. We choose the filling option because if we drop we might </a:t>
            </a:r>
            <a:r>
              <a:rPr lang="en"/>
              <a:t>lose</a:t>
            </a:r>
            <a:r>
              <a:rPr lang="en"/>
              <a:t> the data of the ages from 20 to 30.</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Insights</a:t>
            </a:r>
            <a:endParaRPr/>
          </a:p>
        </p:txBody>
      </p:sp>
      <p:sp>
        <p:nvSpPr>
          <p:cNvPr id="166" name="Google Shape;166;p19"/>
          <p:cNvSpPr txBox="1"/>
          <p:nvPr>
            <p:ph idx="1" type="body"/>
          </p:nvPr>
        </p:nvSpPr>
        <p:spPr>
          <a:xfrm>
            <a:off x="819150" y="1405500"/>
            <a:ext cx="7505700" cy="3033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700"/>
              <a:t>Spending Variability Increases After Income = 100</a:t>
            </a:r>
            <a:endParaRPr b="1" sz="700"/>
          </a:p>
          <a:p>
            <a:pPr indent="-273050" lvl="0" marL="457200" rtl="0" algn="l">
              <a:spcBef>
                <a:spcPts val="1200"/>
              </a:spcBef>
              <a:spcAft>
                <a:spcPts val="0"/>
              </a:spcAft>
              <a:buClr>
                <a:schemeClr val="lt1"/>
              </a:buClr>
              <a:buSzPts val="700"/>
              <a:buChar char="●"/>
            </a:pPr>
            <a:r>
              <a:rPr lang="en" sz="700"/>
              <a:t>Below </a:t>
            </a:r>
            <a:r>
              <a:rPr b="1" lang="en" sz="700"/>
              <a:t>Income = 100</a:t>
            </a:r>
            <a:r>
              <a:rPr lang="en" sz="700"/>
              <a:t>, most CCAvg values stay under </a:t>
            </a:r>
            <a:r>
              <a:rPr b="1" lang="en" sz="700"/>
              <a:t>4</a:t>
            </a:r>
            <a:r>
              <a:rPr lang="en" sz="700"/>
              <a:t>.</a:t>
            </a:r>
            <a:endParaRPr sz="700"/>
          </a:p>
          <a:p>
            <a:pPr indent="-273050" lvl="0" marL="457200" rtl="0" algn="l">
              <a:spcBef>
                <a:spcPts val="0"/>
              </a:spcBef>
              <a:spcAft>
                <a:spcPts val="0"/>
              </a:spcAft>
              <a:buClr>
                <a:schemeClr val="lt1"/>
              </a:buClr>
              <a:buSzPts val="700"/>
              <a:buChar char="●"/>
            </a:pPr>
            <a:r>
              <a:rPr lang="en" sz="700"/>
              <a:t>Above </a:t>
            </a:r>
            <a:r>
              <a:rPr b="1" lang="en" sz="700"/>
              <a:t>Income = 100</a:t>
            </a:r>
            <a:r>
              <a:rPr lang="en" sz="700"/>
              <a:t>, spending spreads widely from </a:t>
            </a:r>
            <a:r>
              <a:rPr b="1" lang="en" sz="700"/>
              <a:t>2 up to 10</a:t>
            </a:r>
            <a:r>
              <a:rPr lang="en" sz="700"/>
              <a:t>.</a:t>
            </a:r>
            <a:endParaRPr sz="700"/>
          </a:p>
          <a:p>
            <a:pPr indent="0" lvl="0" marL="0" rtl="0" algn="l">
              <a:spcBef>
                <a:spcPts val="1200"/>
              </a:spcBef>
              <a:spcAft>
                <a:spcPts val="0"/>
              </a:spcAft>
              <a:buNone/>
            </a:pPr>
            <a:r>
              <a:rPr b="1" lang="en" sz="700"/>
              <a:t>Insight:</a:t>
            </a:r>
            <a:r>
              <a:rPr lang="en" sz="700"/>
              <a:t> Income above 100 marks a behavioral shift toward higher and more variable spending.</a:t>
            </a:r>
            <a:endParaRPr sz="700"/>
          </a:p>
          <a:p>
            <a:pPr indent="0" lvl="0" marL="0" rtl="0" algn="l">
              <a:spcBef>
                <a:spcPts val="1400"/>
              </a:spcBef>
              <a:spcAft>
                <a:spcPts val="0"/>
              </a:spcAft>
              <a:buNone/>
            </a:pPr>
            <a:r>
              <a:rPr b="1" lang="en" sz="700"/>
              <a:t>High-Potential Loan Target Segment</a:t>
            </a:r>
            <a:endParaRPr b="1" sz="700"/>
          </a:p>
          <a:p>
            <a:pPr indent="0" lvl="0" marL="0" rtl="0" algn="l">
              <a:spcBef>
                <a:spcPts val="1400"/>
              </a:spcBef>
              <a:spcAft>
                <a:spcPts val="0"/>
              </a:spcAft>
              <a:buNone/>
            </a:pPr>
            <a:r>
              <a:rPr lang="en" sz="700"/>
              <a:t>Customers with:</a:t>
            </a:r>
            <a:endParaRPr sz="700"/>
          </a:p>
          <a:p>
            <a:pPr indent="-273050" lvl="0" marL="457200" rtl="0" algn="l">
              <a:spcBef>
                <a:spcPts val="1200"/>
              </a:spcBef>
              <a:spcAft>
                <a:spcPts val="0"/>
              </a:spcAft>
              <a:buClr>
                <a:schemeClr val="lt1"/>
              </a:buClr>
              <a:buSzPts val="700"/>
              <a:buChar char="●"/>
            </a:pPr>
            <a:r>
              <a:rPr b="1" lang="en" sz="700"/>
              <a:t>Income &gt; 120</a:t>
            </a:r>
            <a:endParaRPr b="1" sz="700"/>
          </a:p>
          <a:p>
            <a:pPr indent="-273050" lvl="0" marL="457200" rtl="0" algn="l">
              <a:spcBef>
                <a:spcPts val="0"/>
              </a:spcBef>
              <a:spcAft>
                <a:spcPts val="0"/>
              </a:spcAft>
              <a:buClr>
                <a:schemeClr val="lt1"/>
              </a:buClr>
              <a:buSzPts val="700"/>
              <a:buChar char="●"/>
            </a:pPr>
            <a:r>
              <a:rPr b="1" lang="en" sz="700"/>
              <a:t>CCAvg &gt; 6</a:t>
            </a:r>
            <a:endParaRPr b="1" sz="700"/>
          </a:p>
          <a:p>
            <a:pPr indent="0" lvl="0" marL="0" rtl="0" algn="l">
              <a:spcBef>
                <a:spcPts val="1200"/>
              </a:spcBef>
              <a:spcAft>
                <a:spcPts val="0"/>
              </a:spcAft>
              <a:buNone/>
            </a:pPr>
            <a:r>
              <a:rPr lang="en" sz="700"/>
              <a:t>represent a premium financial activity segment.</a:t>
            </a:r>
            <a:endParaRPr sz="700"/>
          </a:p>
          <a:p>
            <a:pPr indent="0" lvl="0" marL="0" rtl="0" algn="l">
              <a:lnSpc>
                <a:spcPct val="50000"/>
              </a:lnSpc>
              <a:spcBef>
                <a:spcPts val="1200"/>
              </a:spcBef>
              <a:spcAft>
                <a:spcPts val="0"/>
              </a:spcAft>
              <a:buNone/>
            </a:pPr>
            <a:r>
              <a:rPr b="1" lang="en" sz="700"/>
              <a:t>Business Conclusion:</a:t>
            </a:r>
            <a:endParaRPr b="1" sz="700"/>
          </a:p>
          <a:p>
            <a:pPr indent="0" lvl="0" marL="0" rtl="0" algn="l">
              <a:lnSpc>
                <a:spcPct val="50000"/>
              </a:lnSpc>
              <a:spcBef>
                <a:spcPts val="1200"/>
              </a:spcBef>
              <a:spcAft>
                <a:spcPts val="0"/>
              </a:spcAft>
              <a:buNone/>
            </a:pPr>
            <a:br>
              <a:rPr b="1" lang="en" sz="700"/>
            </a:br>
            <a:r>
              <a:rPr lang="en" sz="700"/>
              <a:t> Income combined with high credit card spending strongly indicates financially active </a:t>
            </a:r>
            <a:endParaRPr sz="700"/>
          </a:p>
          <a:p>
            <a:pPr indent="0" lvl="0" marL="0" rtl="0" algn="l">
              <a:lnSpc>
                <a:spcPct val="50000"/>
              </a:lnSpc>
              <a:spcBef>
                <a:spcPts val="1200"/>
              </a:spcBef>
              <a:spcAft>
                <a:spcPts val="1200"/>
              </a:spcAft>
              <a:buNone/>
            </a:pPr>
            <a:r>
              <a:rPr lang="en" sz="700"/>
              <a:t>customers who may have higher probability of accepting personal loan offers.</a:t>
            </a:r>
            <a:endParaRPr sz="700"/>
          </a:p>
        </p:txBody>
      </p:sp>
      <p:pic>
        <p:nvPicPr>
          <p:cNvPr id="167" name="Google Shape;167;p19"/>
          <p:cNvPicPr preferRelativeResize="0"/>
          <p:nvPr/>
        </p:nvPicPr>
        <p:blipFill>
          <a:blip r:embed="rId3">
            <a:alphaModFix/>
          </a:blip>
          <a:stretch>
            <a:fillRect/>
          </a:stretch>
        </p:blipFill>
        <p:spPr>
          <a:xfrm>
            <a:off x="5495200" y="1619300"/>
            <a:ext cx="3158325" cy="261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34925" y="357188"/>
            <a:ext cx="3941700" cy="12003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Modeling Setup: Target, Features, Splits, Scaling</a:t>
            </a:r>
            <a:endParaRPr/>
          </a:p>
        </p:txBody>
      </p:sp>
      <p:sp>
        <p:nvSpPr>
          <p:cNvPr id="174" name="Google Shape;174;p20"/>
          <p:cNvSpPr txBox="1"/>
          <p:nvPr>
            <p:ph idx="1" type="body"/>
          </p:nvPr>
        </p:nvSpPr>
        <p:spPr>
          <a:xfrm>
            <a:off x="323850" y="2280175"/>
            <a:ext cx="5784000" cy="3147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b="1" i="0" lang="en" sz="1500" u="none">
                <a:solidFill>
                  <a:srgbClr val="282A2C"/>
                </a:solidFill>
                <a:latin typeface="Arial"/>
                <a:ea typeface="Arial"/>
                <a:cs typeface="Arial"/>
                <a:sym typeface="Arial"/>
              </a:rPr>
              <a:t>Stage 1 (Regression): Problem Setup &amp; Data Preparation</a:t>
            </a:r>
            <a:endParaRPr sz="15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Target (y): </a:t>
            </a:r>
            <a:r>
              <a:rPr b="1" i="0" lang="en" sz="1500" u="none">
                <a:solidFill>
                  <a:srgbClr val="282A2C"/>
                </a:solidFill>
                <a:latin typeface="Arial"/>
                <a:ea typeface="Arial"/>
                <a:cs typeface="Arial"/>
                <a:sym typeface="Arial"/>
              </a:rPr>
              <a:t>CCAvg</a:t>
            </a:r>
            <a:r>
              <a:rPr b="0" i="0" lang="en" sz="1500" u="none">
                <a:solidFill>
                  <a:srgbClr val="282A2C"/>
                </a:solidFill>
                <a:latin typeface="Arial"/>
                <a:ea typeface="Arial"/>
                <a:cs typeface="Arial"/>
                <a:sym typeface="Arial"/>
              </a:rPr>
              <a:t> (monthly credit card spending)</a:t>
            </a:r>
            <a:endParaRPr sz="15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Predictors (X): </a:t>
            </a:r>
            <a:r>
              <a:rPr b="1" i="0" lang="en" sz="1500" u="none">
                <a:solidFill>
                  <a:srgbClr val="282A2C"/>
                </a:solidFill>
                <a:latin typeface="Arial"/>
                <a:ea typeface="Arial"/>
                <a:cs typeface="Arial"/>
                <a:sym typeface="Arial"/>
              </a:rPr>
              <a:t>Age, Income, Family, Mortgage, CD_Account</a:t>
            </a:r>
            <a:endParaRPr sz="15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Data split:</a:t>
            </a:r>
            <a:endParaRPr sz="15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Train: </a:t>
            </a:r>
            <a:r>
              <a:rPr b="1" i="0" lang="en" sz="1300" u="none">
                <a:solidFill>
                  <a:srgbClr val="282A2C"/>
                </a:solidFill>
                <a:latin typeface="Arial"/>
                <a:ea typeface="Arial"/>
                <a:cs typeface="Arial"/>
                <a:sym typeface="Arial"/>
              </a:rPr>
              <a:t>70% (n=3500)</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Validation: </a:t>
            </a:r>
            <a:r>
              <a:rPr b="1" i="0" lang="en" sz="1300" u="none">
                <a:solidFill>
                  <a:srgbClr val="282A2C"/>
                </a:solidFill>
                <a:latin typeface="Arial"/>
                <a:ea typeface="Arial"/>
                <a:cs typeface="Arial"/>
                <a:sym typeface="Arial"/>
              </a:rPr>
              <a:t>15% (n=750)</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Test: </a:t>
            </a:r>
            <a:r>
              <a:rPr b="1" i="0" lang="en" sz="1300" u="none">
                <a:solidFill>
                  <a:srgbClr val="282A2C"/>
                </a:solidFill>
                <a:latin typeface="Arial"/>
                <a:ea typeface="Arial"/>
                <a:cs typeface="Arial"/>
                <a:sym typeface="Arial"/>
              </a:rPr>
              <a:t>15% (n=750)</a:t>
            </a:r>
            <a:endParaRPr b="0" i="0" sz="13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Standardization:</a:t>
            </a:r>
            <a:endParaRPr sz="15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Fit </a:t>
            </a:r>
            <a:r>
              <a:rPr b="1" i="0" lang="en" sz="1300" u="none">
                <a:solidFill>
                  <a:srgbClr val="282A2C"/>
                </a:solidFill>
                <a:latin typeface="Arial"/>
                <a:ea typeface="Arial"/>
                <a:cs typeface="Arial"/>
                <a:sym typeface="Arial"/>
              </a:rPr>
              <a:t>StandardScaler on training set only</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Transform validation/test using the fitted scaler</a:t>
            </a:r>
            <a:br>
              <a:rPr b="0" i="0" lang="en" sz="1300" u="none">
                <a:solidFill>
                  <a:srgbClr val="282A2C"/>
                </a:solidFill>
                <a:latin typeface="Arial"/>
                <a:ea typeface="Arial"/>
                <a:cs typeface="Arial"/>
                <a:sym typeface="Arial"/>
              </a:rPr>
            </a:br>
            <a:r>
              <a:rPr b="0" i="1" lang="en" sz="1300" u="none">
                <a:solidFill>
                  <a:srgbClr val="282A2C"/>
                </a:solidFill>
                <a:latin typeface="Arial"/>
                <a:ea typeface="Arial"/>
                <a:cs typeface="Arial"/>
                <a:sym typeface="Arial"/>
              </a:rPr>
              <a:t>(prevents data leakage)</a:t>
            </a:r>
            <a:endParaRPr b="0" i="0" sz="1300" u="none">
              <a:solidFill>
                <a:srgbClr val="282A2C"/>
              </a:solidFill>
              <a:latin typeface="Arial"/>
              <a:ea typeface="Arial"/>
              <a:cs typeface="Arial"/>
              <a:sym typeface="Arial"/>
            </a:endParaRPr>
          </a:p>
          <a:p>
            <a:pPr indent="0" lvl="0" marL="0" rtl="0" algn="l">
              <a:spcBef>
                <a:spcPts val="280"/>
              </a:spcBef>
              <a:spcAft>
                <a:spcPts val="0"/>
              </a:spcAft>
              <a:buClr>
                <a:schemeClr val="dk1"/>
              </a:buClr>
              <a:buSzPts val="1400"/>
              <a:buFont typeface="Arial"/>
              <a:buNone/>
            </a:pPr>
            <a:r>
              <a:t/>
            </a:r>
            <a:endParaRPr b="0" i="0" sz="1300" u="none">
              <a:solidFill>
                <a:srgbClr val="282A2C"/>
              </a:solidFill>
              <a:latin typeface="Arial"/>
              <a:ea typeface="Arial"/>
              <a:cs typeface="Arial"/>
              <a:sym typeface="Arial"/>
            </a:endParaRPr>
          </a:p>
        </p:txBody>
      </p:sp>
      <p:pic>
        <p:nvPicPr>
          <p:cNvPr descr="A screenshot of a computer program&#10;&#10;AI-generated content may be incorrect." id="175" name="Google Shape;175;p20"/>
          <p:cNvPicPr preferRelativeResize="0"/>
          <p:nvPr/>
        </p:nvPicPr>
        <p:blipFill rotWithShape="1">
          <a:blip r:embed="rId3">
            <a:alphaModFix/>
          </a:blip>
          <a:srcRect b="0" l="0" r="0" t="0"/>
          <a:stretch/>
        </p:blipFill>
        <p:spPr>
          <a:xfrm>
            <a:off x="3635375" y="250031"/>
            <a:ext cx="5473700" cy="19931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28575" y="951309"/>
            <a:ext cx="3941700" cy="972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Evaluation Design: RMSE &amp; R² + Train vs Validation</a:t>
            </a:r>
            <a:endParaRPr/>
          </a:p>
        </p:txBody>
      </p:sp>
      <p:sp>
        <p:nvSpPr>
          <p:cNvPr id="182" name="Google Shape;182;p21"/>
          <p:cNvSpPr txBox="1"/>
          <p:nvPr>
            <p:ph idx="1" type="body"/>
          </p:nvPr>
        </p:nvSpPr>
        <p:spPr>
          <a:xfrm>
            <a:off x="9525" y="2031206"/>
            <a:ext cx="5688000" cy="237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b="1" i="0" lang="en" sz="1500" u="none">
                <a:solidFill>
                  <a:srgbClr val="282A2C"/>
                </a:solidFill>
                <a:latin typeface="Arial"/>
                <a:ea typeface="Arial"/>
                <a:cs typeface="Arial"/>
                <a:sym typeface="Arial"/>
              </a:rPr>
              <a:t>Evaluation Framework (Reusable Function)</a:t>
            </a:r>
            <a:endParaRPr sz="15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Trained each model on </a:t>
            </a:r>
            <a:r>
              <a:rPr b="1" i="0" lang="en" sz="1500" u="none">
                <a:solidFill>
                  <a:srgbClr val="282A2C"/>
                </a:solidFill>
                <a:latin typeface="Arial"/>
                <a:ea typeface="Arial"/>
                <a:cs typeface="Arial"/>
                <a:sym typeface="Arial"/>
              </a:rPr>
              <a:t>training set</a:t>
            </a:r>
            <a:endParaRPr sz="15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Computed performance on:</a:t>
            </a:r>
            <a:endParaRPr sz="15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300" u="none">
                <a:solidFill>
                  <a:srgbClr val="282A2C"/>
                </a:solidFill>
                <a:latin typeface="Arial"/>
                <a:ea typeface="Arial"/>
                <a:cs typeface="Arial"/>
                <a:sym typeface="Arial"/>
              </a:rPr>
              <a:t>Train set</a:t>
            </a:r>
            <a:r>
              <a:rPr b="0" i="0" lang="en" sz="1300" u="none">
                <a:solidFill>
                  <a:srgbClr val="282A2C"/>
                </a:solidFill>
                <a:latin typeface="Arial"/>
                <a:ea typeface="Arial"/>
                <a:cs typeface="Arial"/>
                <a:sym typeface="Arial"/>
              </a:rPr>
              <a:t> → detect fitting behaviour</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300" u="none">
                <a:solidFill>
                  <a:srgbClr val="282A2C"/>
                </a:solidFill>
                <a:latin typeface="Arial"/>
                <a:ea typeface="Arial"/>
                <a:cs typeface="Arial"/>
                <a:sym typeface="Arial"/>
              </a:rPr>
              <a:t>Validation set</a:t>
            </a:r>
            <a:r>
              <a:rPr b="0" i="0" lang="en" sz="1300" u="none">
                <a:solidFill>
                  <a:srgbClr val="282A2C"/>
                </a:solidFill>
                <a:latin typeface="Arial"/>
                <a:ea typeface="Arial"/>
                <a:cs typeface="Arial"/>
                <a:sym typeface="Arial"/>
              </a:rPr>
              <a:t> → compare generalization</a:t>
            </a:r>
            <a:endParaRPr sz="13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Metrics:</a:t>
            </a:r>
            <a:endParaRPr sz="15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300" u="none">
                <a:solidFill>
                  <a:srgbClr val="282A2C"/>
                </a:solidFill>
                <a:latin typeface="Arial"/>
                <a:ea typeface="Arial"/>
                <a:cs typeface="Arial"/>
                <a:sym typeface="Arial"/>
              </a:rPr>
              <a:t>RMSE</a:t>
            </a:r>
            <a:r>
              <a:rPr b="0" i="0" lang="en" sz="1300" u="none">
                <a:solidFill>
                  <a:srgbClr val="282A2C"/>
                </a:solidFill>
                <a:latin typeface="Arial"/>
                <a:ea typeface="Arial"/>
                <a:cs typeface="Arial"/>
                <a:sym typeface="Arial"/>
              </a:rPr>
              <a:t> (error magnitude in target units)</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300" u="none">
                <a:solidFill>
                  <a:srgbClr val="282A2C"/>
                </a:solidFill>
                <a:latin typeface="Arial"/>
                <a:ea typeface="Arial"/>
                <a:cs typeface="Arial"/>
                <a:sym typeface="Arial"/>
              </a:rPr>
              <a:t>R²</a:t>
            </a:r>
            <a:r>
              <a:rPr b="0" i="0" lang="en" sz="1300" u="none">
                <a:solidFill>
                  <a:srgbClr val="282A2C"/>
                </a:solidFill>
                <a:latin typeface="Arial"/>
                <a:ea typeface="Arial"/>
                <a:cs typeface="Arial"/>
                <a:sym typeface="Arial"/>
              </a:rPr>
              <a:t> (variance explained)</a:t>
            </a:r>
            <a:endParaRPr sz="1300">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500" u="none">
                <a:solidFill>
                  <a:srgbClr val="282A2C"/>
                </a:solidFill>
                <a:latin typeface="Arial"/>
                <a:ea typeface="Arial"/>
                <a:cs typeface="Arial"/>
                <a:sym typeface="Arial"/>
              </a:rPr>
              <a:t>Purpose:</a:t>
            </a:r>
            <a:endParaRPr sz="15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Identify </a:t>
            </a:r>
            <a:r>
              <a:rPr b="1" i="0" lang="en" sz="1300" u="none">
                <a:solidFill>
                  <a:srgbClr val="282A2C"/>
                </a:solidFill>
                <a:latin typeface="Arial"/>
                <a:ea typeface="Arial"/>
                <a:cs typeface="Arial"/>
                <a:sym typeface="Arial"/>
              </a:rPr>
              <a:t>overfitting / underfitting</a:t>
            </a:r>
            <a:endParaRPr sz="1300">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300" u="none">
                <a:solidFill>
                  <a:srgbClr val="282A2C"/>
                </a:solidFill>
                <a:latin typeface="Arial"/>
                <a:ea typeface="Arial"/>
                <a:cs typeface="Arial"/>
                <a:sym typeface="Arial"/>
              </a:rPr>
              <a:t>Select best model objectively</a:t>
            </a:r>
            <a:endParaRPr sz="1300">
              <a:solidFill>
                <a:srgbClr val="282A2C"/>
              </a:solidFill>
            </a:endParaRPr>
          </a:p>
        </p:txBody>
      </p:sp>
      <p:pic>
        <p:nvPicPr>
          <p:cNvPr descr="A screenshot of a computer program" id="183" name="Google Shape;183;p21"/>
          <p:cNvPicPr preferRelativeResize="0"/>
          <p:nvPr/>
        </p:nvPicPr>
        <p:blipFill rotWithShape="1">
          <a:blip r:embed="rId3">
            <a:alphaModFix/>
          </a:blip>
          <a:srcRect b="0" l="0" r="0" t="0"/>
          <a:stretch/>
        </p:blipFill>
        <p:spPr>
          <a:xfrm>
            <a:off x="4211637" y="303609"/>
            <a:ext cx="4752976" cy="48398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28575" y="951309"/>
            <a:ext cx="3941700" cy="972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Model Benchmarking: Linear, Regularised &amp; Non-linear</a:t>
            </a:r>
            <a:endParaRPr/>
          </a:p>
        </p:txBody>
      </p:sp>
      <p:sp>
        <p:nvSpPr>
          <p:cNvPr id="190" name="Google Shape;190;p22"/>
          <p:cNvSpPr txBox="1"/>
          <p:nvPr>
            <p:ph idx="1" type="body"/>
          </p:nvPr>
        </p:nvSpPr>
        <p:spPr>
          <a:xfrm>
            <a:off x="9525" y="2031206"/>
            <a:ext cx="5688000" cy="237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b="1" i="0" lang="en" sz="1600" u="none">
                <a:solidFill>
                  <a:srgbClr val="282A2C"/>
                </a:solidFill>
                <a:latin typeface="Arial"/>
                <a:ea typeface="Arial"/>
                <a:cs typeface="Arial"/>
                <a:sym typeface="Arial"/>
              </a:rPr>
              <a:t>Models Benchmarked</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Linear family (scaled inputs):</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Linear Regression, Ridge, Lasso</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Non-linear / tree-based:</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Decision Tree, Random Forest, Gradient Boosting</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Kernel-based (scaled inputs):</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400" u="none">
                <a:solidFill>
                  <a:srgbClr val="282A2C"/>
                </a:solidFill>
                <a:latin typeface="Arial"/>
                <a:ea typeface="Arial"/>
                <a:cs typeface="Arial"/>
                <a:sym typeface="Arial"/>
              </a:rPr>
              <a:t>SVR</a:t>
            </a:r>
            <a:endParaRPr b="0" i="0" sz="14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Scaling rule applied:</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Scaled: </a:t>
            </a:r>
            <a:r>
              <a:rPr b="1" i="0" lang="en" sz="1400" u="none">
                <a:solidFill>
                  <a:srgbClr val="282A2C"/>
                </a:solidFill>
                <a:latin typeface="Arial"/>
                <a:ea typeface="Arial"/>
                <a:cs typeface="Arial"/>
                <a:sym typeface="Arial"/>
              </a:rPr>
              <a:t>Linear/Ridge/Lasso/SVR</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Unscaled: </a:t>
            </a:r>
            <a:r>
              <a:rPr b="1" i="0" lang="en" sz="1400" u="none">
                <a:solidFill>
                  <a:srgbClr val="282A2C"/>
                </a:solidFill>
                <a:latin typeface="Arial"/>
                <a:ea typeface="Arial"/>
                <a:cs typeface="Arial"/>
                <a:sym typeface="Arial"/>
              </a:rPr>
              <a:t>Tree-based models</a:t>
            </a:r>
            <a:endParaRPr>
              <a:solidFill>
                <a:srgbClr val="282A2C"/>
              </a:solidFill>
            </a:endParaRPr>
          </a:p>
        </p:txBody>
      </p:sp>
      <p:pic>
        <p:nvPicPr>
          <p:cNvPr descr="A screenshot of a computer code&#10;&#10;AI-generated content may be incorrect." id="191" name="Google Shape;191;p22"/>
          <p:cNvPicPr preferRelativeResize="0"/>
          <p:nvPr/>
        </p:nvPicPr>
        <p:blipFill rotWithShape="1">
          <a:blip r:embed="rId3">
            <a:alphaModFix/>
          </a:blip>
          <a:srcRect b="0" l="0" r="0" t="0"/>
          <a:stretch/>
        </p:blipFill>
        <p:spPr>
          <a:xfrm>
            <a:off x="4572000" y="141684"/>
            <a:ext cx="4321176" cy="491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2124075" y="627459"/>
            <a:ext cx="3941700" cy="972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Regression Results: Generalization + Overfitting Evidence</a:t>
            </a:r>
            <a:endParaRPr/>
          </a:p>
        </p:txBody>
      </p:sp>
      <p:sp>
        <p:nvSpPr>
          <p:cNvPr id="198" name="Google Shape;198;p23"/>
          <p:cNvSpPr txBox="1"/>
          <p:nvPr>
            <p:ph idx="1" type="body"/>
          </p:nvPr>
        </p:nvSpPr>
        <p:spPr>
          <a:xfrm>
            <a:off x="9525" y="1600200"/>
            <a:ext cx="5688000" cy="2807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b="1" i="0" lang="en" sz="1600" u="none">
                <a:solidFill>
                  <a:srgbClr val="282A2C"/>
                </a:solidFill>
                <a:latin typeface="Arial"/>
                <a:ea typeface="Arial"/>
                <a:cs typeface="Arial"/>
                <a:sym typeface="Arial"/>
              </a:rPr>
              <a:t>Regression Results (Train vs Validation)</a:t>
            </a:r>
            <a:br>
              <a:rPr b="0" i="0" lang="en" sz="1600" u="none">
                <a:solidFill>
                  <a:srgbClr val="282A2C"/>
                </a:solidFill>
                <a:latin typeface="Arial"/>
                <a:ea typeface="Arial"/>
                <a:cs typeface="Arial"/>
                <a:sym typeface="Arial"/>
              </a:rPr>
            </a:br>
            <a:r>
              <a:rPr b="0" i="0" lang="en" sz="1600" u="none">
                <a:solidFill>
                  <a:srgbClr val="282A2C"/>
                </a:solidFill>
                <a:latin typeface="Arial"/>
                <a:ea typeface="Arial"/>
                <a:cs typeface="Arial"/>
                <a:sym typeface="Arial"/>
              </a:rPr>
              <a:t>Key observations:</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1" i="0" lang="en" sz="1600" u="none">
                <a:solidFill>
                  <a:srgbClr val="282A2C"/>
                </a:solidFill>
                <a:latin typeface="Arial"/>
                <a:ea typeface="Arial"/>
                <a:cs typeface="Arial"/>
                <a:sym typeface="Arial"/>
              </a:rPr>
              <a:t>Decision Tree overfit heavily</a:t>
            </a:r>
            <a:endParaRPr b="0" i="0" sz="1600" u="none">
              <a:solidFill>
                <a:srgbClr val="282A2C"/>
              </a:solidFill>
              <a:latin typeface="Arial"/>
              <a:ea typeface="Arial"/>
              <a:cs typeface="Arial"/>
              <a:sym typeface="Aria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Train R² ≈ </a:t>
            </a:r>
            <a:r>
              <a:rPr b="1" i="0" lang="en" sz="1400" u="none">
                <a:solidFill>
                  <a:srgbClr val="282A2C"/>
                </a:solidFill>
                <a:latin typeface="Arial"/>
                <a:ea typeface="Arial"/>
                <a:cs typeface="Arial"/>
                <a:sym typeface="Arial"/>
              </a:rPr>
              <a:t>0.99</a:t>
            </a:r>
            <a:r>
              <a:rPr b="0" i="0" lang="en" sz="1400" u="none">
                <a:solidFill>
                  <a:srgbClr val="282A2C"/>
                </a:solidFill>
                <a:latin typeface="Arial"/>
                <a:ea typeface="Arial"/>
                <a:cs typeface="Arial"/>
                <a:sym typeface="Arial"/>
              </a:rPr>
              <a:t> vs Validation R² &lt; </a:t>
            </a:r>
            <a:r>
              <a:rPr b="1" i="0" lang="en" sz="1400" u="none">
                <a:solidFill>
                  <a:srgbClr val="282A2C"/>
                </a:solidFill>
                <a:latin typeface="Arial"/>
                <a:ea typeface="Arial"/>
                <a:cs typeface="Arial"/>
                <a:sym typeface="Arial"/>
              </a:rPr>
              <a:t>0</a:t>
            </a:r>
            <a:endParaRPr b="0" i="0" sz="14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b="1" i="0" lang="en" sz="1600" u="none">
                <a:solidFill>
                  <a:srgbClr val="282A2C"/>
                </a:solidFill>
                <a:latin typeface="Arial"/>
                <a:ea typeface="Arial"/>
                <a:cs typeface="Arial"/>
                <a:sym typeface="Arial"/>
              </a:rPr>
              <a:t>Lasso underfit</a:t>
            </a:r>
            <a:endParaRPr b="0" i="0" sz="1600" u="none">
              <a:solidFill>
                <a:srgbClr val="282A2C"/>
              </a:solidFill>
              <a:latin typeface="Arial"/>
              <a:ea typeface="Arial"/>
              <a:cs typeface="Arial"/>
              <a:sym typeface="Aria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Low R² on both train and validation</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Best generalization performance:</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1" i="0" lang="en" sz="1400" u="none">
                <a:solidFill>
                  <a:srgbClr val="282A2C"/>
                </a:solidFill>
                <a:latin typeface="Arial"/>
                <a:ea typeface="Arial"/>
                <a:cs typeface="Arial"/>
                <a:sym typeface="Arial"/>
              </a:rPr>
              <a:t>SVR</a:t>
            </a:r>
            <a:r>
              <a:rPr b="0" i="0" lang="en" sz="1400" u="none">
                <a:solidFill>
                  <a:srgbClr val="282A2C"/>
                </a:solidFill>
                <a:latin typeface="Arial"/>
                <a:ea typeface="Arial"/>
                <a:cs typeface="Arial"/>
                <a:sym typeface="Arial"/>
              </a:rPr>
              <a:t> achieved the best validation metrics</a:t>
            </a:r>
            <a:endParaRPr>
              <a:solidFill>
                <a:srgbClr val="282A2C"/>
              </a:solidFill>
            </a:endParaRPr>
          </a:p>
          <a:p>
            <a:pPr indent="0" lvl="2" marL="914400" rtl="0" algn="l">
              <a:lnSpc>
                <a:spcPct val="100000"/>
              </a:lnSpc>
              <a:spcBef>
                <a:spcPts val="240"/>
              </a:spcBef>
              <a:spcAft>
                <a:spcPts val="0"/>
              </a:spcAft>
              <a:buClr>
                <a:schemeClr val="dk1"/>
              </a:buClr>
              <a:buSzPts val="1200"/>
              <a:buFont typeface="Arial"/>
              <a:buNone/>
            </a:pPr>
            <a:r>
              <a:rPr b="0" i="0" lang="en" sz="1200" u="none">
                <a:solidFill>
                  <a:srgbClr val="282A2C"/>
                </a:solidFill>
                <a:latin typeface="Arial"/>
                <a:ea typeface="Arial"/>
                <a:cs typeface="Arial"/>
                <a:sym typeface="Arial"/>
              </a:rPr>
              <a:t>Validation RMSE ≈ </a:t>
            </a:r>
            <a:r>
              <a:rPr b="1" i="0" lang="en" sz="1200" u="none">
                <a:solidFill>
                  <a:srgbClr val="282A2C"/>
                </a:solidFill>
                <a:latin typeface="Arial"/>
                <a:ea typeface="Arial"/>
                <a:cs typeface="Arial"/>
                <a:sym typeface="Arial"/>
              </a:rPr>
              <a:t>1.35</a:t>
            </a:r>
            <a:endParaRPr>
              <a:solidFill>
                <a:srgbClr val="282A2C"/>
              </a:solidFill>
            </a:endParaRPr>
          </a:p>
          <a:p>
            <a:pPr indent="0" lvl="2" marL="914400" rtl="0" algn="l">
              <a:lnSpc>
                <a:spcPct val="100000"/>
              </a:lnSpc>
              <a:spcBef>
                <a:spcPts val="240"/>
              </a:spcBef>
              <a:spcAft>
                <a:spcPts val="0"/>
              </a:spcAft>
              <a:buClr>
                <a:schemeClr val="dk1"/>
              </a:buClr>
              <a:buSzPts val="1200"/>
              <a:buFont typeface="Arial"/>
              <a:buNone/>
            </a:pPr>
            <a:r>
              <a:rPr b="0" i="0" lang="en" sz="1200" u="none">
                <a:solidFill>
                  <a:srgbClr val="282A2C"/>
                </a:solidFill>
                <a:latin typeface="Arial"/>
                <a:ea typeface="Arial"/>
                <a:cs typeface="Arial"/>
                <a:sym typeface="Arial"/>
              </a:rPr>
              <a:t>Validation R² ≈ </a:t>
            </a:r>
            <a:r>
              <a:rPr b="1" i="0" lang="en" sz="1200" u="none">
                <a:solidFill>
                  <a:srgbClr val="282A2C"/>
                </a:solidFill>
                <a:latin typeface="Arial"/>
                <a:ea typeface="Arial"/>
                <a:cs typeface="Arial"/>
                <a:sym typeface="Arial"/>
              </a:rPr>
              <a:t>0.455</a:t>
            </a:r>
            <a:endParaRPr b="0" i="0" sz="12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spending behaviour is </a:t>
            </a:r>
            <a:r>
              <a:rPr b="1" i="0" lang="en" sz="1600" u="none">
                <a:solidFill>
                  <a:srgbClr val="282A2C"/>
                </a:solidFill>
                <a:latin typeface="Arial"/>
                <a:ea typeface="Arial"/>
                <a:cs typeface="Arial"/>
                <a:sym typeface="Arial"/>
              </a:rPr>
              <a:t>non-linear</a:t>
            </a:r>
            <a:r>
              <a:rPr b="0" i="0" lang="en" sz="1600" u="none">
                <a:solidFill>
                  <a:srgbClr val="282A2C"/>
                </a:solidFill>
                <a:latin typeface="Arial"/>
                <a:ea typeface="Arial"/>
                <a:cs typeface="Arial"/>
                <a:sym typeface="Arial"/>
              </a:rPr>
              <a:t>, and </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model selection must prioritize validation performance.</a:t>
            </a:r>
            <a:endParaRPr>
              <a:solidFill>
                <a:srgbClr val="282A2C"/>
              </a:solidFill>
            </a:endParaRPr>
          </a:p>
        </p:txBody>
      </p:sp>
      <p:pic>
        <p:nvPicPr>
          <p:cNvPr descr="A screenshot of a computer&#10;&#10;AI-generated content may be incorrect." id="199" name="Google Shape;199;p23"/>
          <p:cNvPicPr preferRelativeResize="0"/>
          <p:nvPr/>
        </p:nvPicPr>
        <p:blipFill rotWithShape="1">
          <a:blip r:embed="rId3">
            <a:alphaModFix/>
          </a:blip>
          <a:srcRect b="0" l="0" r="0" t="0"/>
          <a:stretch/>
        </p:blipFill>
        <p:spPr>
          <a:xfrm>
            <a:off x="4729162" y="1600200"/>
            <a:ext cx="4405312" cy="34563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idx="1" type="body"/>
          </p:nvPr>
        </p:nvSpPr>
        <p:spPr>
          <a:xfrm>
            <a:off x="9525" y="1600200"/>
            <a:ext cx="4057800" cy="2807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i="0" lang="en" sz="1600" u="none">
                <a:solidFill>
                  <a:srgbClr val="282A2C"/>
                </a:solidFill>
                <a:latin typeface="Arial"/>
                <a:ea typeface="Arial"/>
                <a:cs typeface="Arial"/>
                <a:sym typeface="Arial"/>
              </a:rPr>
              <a:t>Regression Results (Train vs Validation)</a:t>
            </a:r>
            <a:br>
              <a:rPr i="0" lang="en" sz="1600" u="none">
                <a:solidFill>
                  <a:srgbClr val="282A2C"/>
                </a:solidFill>
                <a:latin typeface="Arial"/>
                <a:ea typeface="Arial"/>
                <a:cs typeface="Arial"/>
                <a:sym typeface="Arial"/>
              </a:rPr>
            </a:br>
            <a:r>
              <a:rPr i="0" lang="en" sz="1600" u="none">
                <a:solidFill>
                  <a:srgbClr val="282A2C"/>
                </a:solidFill>
                <a:latin typeface="Arial"/>
                <a:ea typeface="Arial"/>
                <a:cs typeface="Arial"/>
                <a:sym typeface="Arial"/>
              </a:rPr>
              <a:t>Key observations:</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i="0" lang="en" sz="1600" u="none">
                <a:solidFill>
                  <a:srgbClr val="282A2C"/>
                </a:solidFill>
                <a:latin typeface="Arial"/>
                <a:ea typeface="Arial"/>
                <a:cs typeface="Arial"/>
                <a:sym typeface="Arial"/>
              </a:rPr>
              <a:t>Decision Tree overfit heavily</a:t>
            </a:r>
            <a:endParaRPr i="0" sz="1600" u="none">
              <a:solidFill>
                <a:srgbClr val="282A2C"/>
              </a:solidFill>
              <a:latin typeface="Arial"/>
              <a:ea typeface="Arial"/>
              <a:cs typeface="Arial"/>
              <a:sym typeface="Arial"/>
            </a:endParaRPr>
          </a:p>
          <a:p>
            <a:pPr indent="0" lvl="1" marL="457200" rtl="0" algn="l">
              <a:lnSpc>
                <a:spcPct val="100000"/>
              </a:lnSpc>
              <a:spcBef>
                <a:spcPts val="280"/>
              </a:spcBef>
              <a:spcAft>
                <a:spcPts val="0"/>
              </a:spcAft>
              <a:buClr>
                <a:schemeClr val="dk1"/>
              </a:buClr>
              <a:buSzPts val="1400"/>
              <a:buFont typeface="Arial"/>
              <a:buNone/>
            </a:pPr>
            <a:r>
              <a:rPr i="0" lang="en" sz="1400" u="none">
                <a:solidFill>
                  <a:srgbClr val="282A2C"/>
                </a:solidFill>
                <a:latin typeface="Arial"/>
                <a:ea typeface="Arial"/>
                <a:cs typeface="Arial"/>
                <a:sym typeface="Arial"/>
              </a:rPr>
              <a:t>Train R² ≈ 0.99 vs Validation R² &lt; 0</a:t>
            </a:r>
            <a:endParaRPr i="0" sz="14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i="0" lang="en" sz="1600" u="none">
                <a:solidFill>
                  <a:srgbClr val="282A2C"/>
                </a:solidFill>
                <a:latin typeface="Arial"/>
                <a:ea typeface="Arial"/>
                <a:cs typeface="Arial"/>
                <a:sym typeface="Arial"/>
              </a:rPr>
              <a:t>Lasso underfit</a:t>
            </a:r>
            <a:endParaRPr i="0" sz="1600" u="none">
              <a:solidFill>
                <a:srgbClr val="282A2C"/>
              </a:solidFill>
              <a:latin typeface="Arial"/>
              <a:ea typeface="Arial"/>
              <a:cs typeface="Arial"/>
              <a:sym typeface="Arial"/>
            </a:endParaRPr>
          </a:p>
          <a:p>
            <a:pPr indent="0" lvl="1" marL="457200" rtl="0" algn="l">
              <a:lnSpc>
                <a:spcPct val="100000"/>
              </a:lnSpc>
              <a:spcBef>
                <a:spcPts val="280"/>
              </a:spcBef>
              <a:spcAft>
                <a:spcPts val="0"/>
              </a:spcAft>
              <a:buClr>
                <a:schemeClr val="dk1"/>
              </a:buClr>
              <a:buSzPts val="1400"/>
              <a:buFont typeface="Arial"/>
              <a:buNone/>
            </a:pPr>
            <a:r>
              <a:rPr i="0" lang="en" sz="1400" u="none">
                <a:solidFill>
                  <a:srgbClr val="282A2C"/>
                </a:solidFill>
                <a:latin typeface="Arial"/>
                <a:ea typeface="Arial"/>
                <a:cs typeface="Arial"/>
                <a:sym typeface="Arial"/>
              </a:rPr>
              <a:t>Low R² on both train and validation</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i="0" lang="en" sz="1600" u="none">
                <a:solidFill>
                  <a:srgbClr val="282A2C"/>
                </a:solidFill>
                <a:latin typeface="Arial"/>
                <a:ea typeface="Arial"/>
                <a:cs typeface="Arial"/>
                <a:sym typeface="Arial"/>
              </a:rPr>
              <a:t>Best generalization performance:</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i="0" lang="en" sz="1400" u="none">
                <a:solidFill>
                  <a:srgbClr val="282A2C"/>
                </a:solidFill>
                <a:latin typeface="Arial"/>
                <a:ea typeface="Arial"/>
                <a:cs typeface="Arial"/>
                <a:sym typeface="Arial"/>
              </a:rPr>
              <a:t>SVR achieved the best validation metrics</a:t>
            </a:r>
            <a:endParaRPr>
              <a:solidFill>
                <a:srgbClr val="282A2C"/>
              </a:solidFill>
            </a:endParaRPr>
          </a:p>
          <a:p>
            <a:pPr indent="0" lvl="2" marL="914400" rtl="0" algn="l">
              <a:lnSpc>
                <a:spcPct val="100000"/>
              </a:lnSpc>
              <a:spcBef>
                <a:spcPts val="240"/>
              </a:spcBef>
              <a:spcAft>
                <a:spcPts val="0"/>
              </a:spcAft>
              <a:buClr>
                <a:schemeClr val="dk1"/>
              </a:buClr>
              <a:buSzPts val="1200"/>
              <a:buFont typeface="Arial"/>
              <a:buNone/>
            </a:pPr>
            <a:r>
              <a:rPr i="0" lang="en" sz="1200" u="none">
                <a:solidFill>
                  <a:srgbClr val="282A2C"/>
                </a:solidFill>
                <a:latin typeface="Arial"/>
                <a:ea typeface="Arial"/>
                <a:cs typeface="Arial"/>
                <a:sym typeface="Arial"/>
              </a:rPr>
              <a:t>Validation RMSE ≈ 1.35</a:t>
            </a:r>
            <a:endParaRPr>
              <a:solidFill>
                <a:srgbClr val="282A2C"/>
              </a:solidFill>
            </a:endParaRPr>
          </a:p>
          <a:p>
            <a:pPr indent="0" lvl="2" marL="914400" rtl="0" algn="l">
              <a:lnSpc>
                <a:spcPct val="100000"/>
              </a:lnSpc>
              <a:spcBef>
                <a:spcPts val="240"/>
              </a:spcBef>
              <a:spcAft>
                <a:spcPts val="0"/>
              </a:spcAft>
              <a:buClr>
                <a:schemeClr val="dk1"/>
              </a:buClr>
              <a:buSzPts val="1200"/>
              <a:buFont typeface="Arial"/>
              <a:buNone/>
            </a:pPr>
            <a:r>
              <a:rPr i="0" lang="en" sz="1200" u="none">
                <a:solidFill>
                  <a:srgbClr val="282A2C"/>
                </a:solidFill>
                <a:latin typeface="Arial"/>
                <a:ea typeface="Arial"/>
                <a:cs typeface="Arial"/>
                <a:sym typeface="Arial"/>
              </a:rPr>
              <a:t>Validation R² ≈ 0.455</a:t>
            </a:r>
            <a:endParaRPr i="0" sz="12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i="0" lang="en" sz="1600" u="none">
                <a:solidFill>
                  <a:srgbClr val="282A2C"/>
                </a:solidFill>
                <a:latin typeface="Arial"/>
                <a:ea typeface="Arial"/>
                <a:cs typeface="Arial"/>
                <a:sym typeface="Arial"/>
              </a:rPr>
              <a:t>spending behaviour is non-linear, and </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i="0" lang="en" sz="1600" u="none">
                <a:solidFill>
                  <a:srgbClr val="282A2C"/>
                </a:solidFill>
                <a:latin typeface="Arial"/>
                <a:ea typeface="Arial"/>
                <a:cs typeface="Arial"/>
                <a:sym typeface="Arial"/>
              </a:rPr>
              <a:t>model selection must prioritize validation performance.</a:t>
            </a:r>
            <a:endParaRPr>
              <a:solidFill>
                <a:srgbClr val="282A2C"/>
              </a:solidFill>
            </a:endParaRPr>
          </a:p>
        </p:txBody>
      </p:sp>
      <p:pic>
        <p:nvPicPr>
          <p:cNvPr descr="A screenshot of a computer&#10;&#10;AI-generated content may be incorrect." id="205" name="Google Shape;205;p24"/>
          <p:cNvPicPr preferRelativeResize="0"/>
          <p:nvPr/>
        </p:nvPicPr>
        <p:blipFill rotWithShape="1">
          <a:blip r:embed="rId3">
            <a:alphaModFix/>
          </a:blip>
          <a:srcRect b="0" l="0" r="0" t="0"/>
          <a:stretch/>
        </p:blipFill>
        <p:spPr>
          <a:xfrm>
            <a:off x="4533900" y="1042988"/>
            <a:ext cx="2987278" cy="3364706"/>
          </a:xfrm>
          <a:prstGeom prst="rect">
            <a:avLst/>
          </a:prstGeom>
          <a:noFill/>
          <a:ln>
            <a:noFill/>
          </a:ln>
        </p:spPr>
      </p:pic>
      <p:sp>
        <p:nvSpPr>
          <p:cNvPr id="206" name="Google Shape;206;p24"/>
          <p:cNvSpPr txBox="1"/>
          <p:nvPr>
            <p:ph type="title"/>
          </p:nvPr>
        </p:nvSpPr>
        <p:spPr>
          <a:xfrm>
            <a:off x="250825" y="248840"/>
            <a:ext cx="3941700" cy="972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Regression Results: Generalization + Overfitting Evidence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1763712" y="465534"/>
            <a:ext cx="4949700" cy="972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 sz="3200" u="none">
                <a:solidFill>
                  <a:schemeClr val="dk2"/>
                </a:solidFill>
                <a:latin typeface="Arial"/>
                <a:ea typeface="Arial"/>
                <a:cs typeface="Arial"/>
                <a:sym typeface="Arial"/>
              </a:rPr>
              <a:t>Final Regression Choice + Test Performance + Feature Engineering</a:t>
            </a:r>
            <a:endParaRPr/>
          </a:p>
        </p:txBody>
      </p:sp>
      <p:sp>
        <p:nvSpPr>
          <p:cNvPr id="213" name="Google Shape;213;p25"/>
          <p:cNvSpPr txBox="1"/>
          <p:nvPr>
            <p:ph idx="1" type="body"/>
          </p:nvPr>
        </p:nvSpPr>
        <p:spPr>
          <a:xfrm>
            <a:off x="107950" y="1600200"/>
            <a:ext cx="4349700" cy="237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b="1" i="0" lang="en" sz="1600" u="none">
                <a:solidFill>
                  <a:srgbClr val="282A2C"/>
                </a:solidFill>
                <a:latin typeface="Arial"/>
                <a:ea typeface="Arial"/>
                <a:cs typeface="Arial"/>
                <a:sym typeface="Arial"/>
              </a:rPr>
              <a:t>Selected Regression Model &amp; Behaviour Feature</a:t>
            </a:r>
            <a:endParaRPr>
              <a:solidFill>
                <a:srgbClr val="282A2C"/>
              </a:solidFil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Best model selected by </a:t>
            </a:r>
            <a:r>
              <a:rPr b="1" i="0" lang="en" sz="1600" u="none">
                <a:solidFill>
                  <a:srgbClr val="282A2C"/>
                </a:solidFill>
                <a:latin typeface="Arial"/>
                <a:ea typeface="Arial"/>
                <a:cs typeface="Arial"/>
                <a:sym typeface="Arial"/>
              </a:rPr>
              <a:t>lowest validation RMSE</a:t>
            </a:r>
            <a:endParaRPr b="0" i="0" sz="1600" u="none">
              <a:solidFill>
                <a:srgbClr val="282A2C"/>
              </a:solidFill>
              <a:latin typeface="Arial"/>
              <a:ea typeface="Arial"/>
              <a:cs typeface="Arial"/>
              <a:sym typeface="Arial"/>
            </a:endParaRPr>
          </a:p>
          <a:p>
            <a:pPr indent="0" lvl="1" marL="457200" rtl="0" algn="l">
              <a:lnSpc>
                <a:spcPct val="100000"/>
              </a:lnSpc>
              <a:spcBef>
                <a:spcPts val="280"/>
              </a:spcBef>
              <a:spcAft>
                <a:spcPts val="0"/>
              </a:spcAft>
              <a:buClr>
                <a:schemeClr val="dk1"/>
              </a:buClr>
              <a:buSzPts val="1400"/>
              <a:buFont typeface="Arial"/>
              <a:buNone/>
            </a:pPr>
            <a:r>
              <a:rPr b="1" i="0" lang="en" sz="1400" u="none">
                <a:solidFill>
                  <a:srgbClr val="282A2C"/>
                </a:solidFill>
                <a:latin typeface="Arial"/>
                <a:ea typeface="Arial"/>
                <a:cs typeface="Arial"/>
                <a:sym typeface="Arial"/>
              </a:rPr>
              <a:t>Best Model: SVR</a:t>
            </a:r>
            <a:endParaRPr b="0" i="0" sz="1400" u="none">
              <a:solidFill>
                <a:srgbClr val="282A2C"/>
              </a:solidFill>
              <a:latin typeface="Arial"/>
              <a:ea typeface="Arial"/>
              <a:cs typeface="Arial"/>
              <a:sym typeface="Arial"/>
            </a:endParaRPr>
          </a:p>
          <a:p>
            <a:pPr indent="0" lvl="0" marL="0" rtl="0" algn="l">
              <a:lnSpc>
                <a:spcPct val="100000"/>
              </a:lnSpc>
              <a:spcBef>
                <a:spcPts val="320"/>
              </a:spcBef>
              <a:spcAft>
                <a:spcPts val="0"/>
              </a:spcAft>
              <a:buClr>
                <a:schemeClr val="dk1"/>
              </a:buClr>
              <a:buSzPts val="1600"/>
              <a:buFont typeface="Arial"/>
              <a:buNone/>
            </a:pPr>
            <a:r>
              <a:rPr b="0" i="0" lang="en" sz="1600" u="none">
                <a:solidFill>
                  <a:srgbClr val="282A2C"/>
                </a:solidFill>
                <a:latin typeface="Arial"/>
                <a:ea typeface="Arial"/>
                <a:cs typeface="Arial"/>
                <a:sym typeface="Arial"/>
              </a:rPr>
              <a:t>Final evaluation on held-out test set:</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Test RMSE ≈ </a:t>
            </a:r>
            <a:r>
              <a:rPr b="1" i="0" lang="en" sz="1400" u="none">
                <a:solidFill>
                  <a:srgbClr val="282A2C"/>
                </a:solidFill>
                <a:latin typeface="Arial"/>
                <a:ea typeface="Arial"/>
                <a:cs typeface="Arial"/>
                <a:sym typeface="Arial"/>
              </a:rPr>
              <a:t>1.316</a:t>
            </a:r>
            <a:endParaRPr>
              <a:solidFill>
                <a:srgbClr val="282A2C"/>
              </a:solidFill>
            </a:endParaRPr>
          </a:p>
          <a:p>
            <a:pPr indent="0" lvl="1" marL="457200" rtl="0" algn="l">
              <a:lnSpc>
                <a:spcPct val="100000"/>
              </a:lnSpc>
              <a:spcBef>
                <a:spcPts val="280"/>
              </a:spcBef>
              <a:spcAft>
                <a:spcPts val="0"/>
              </a:spcAft>
              <a:buClr>
                <a:schemeClr val="dk1"/>
              </a:buClr>
              <a:buSzPts val="1400"/>
              <a:buFont typeface="Arial"/>
              <a:buNone/>
            </a:pPr>
            <a:r>
              <a:rPr b="0" i="0" lang="en" sz="1400" u="none">
                <a:solidFill>
                  <a:srgbClr val="282A2C"/>
                </a:solidFill>
                <a:latin typeface="Arial"/>
                <a:ea typeface="Arial"/>
                <a:cs typeface="Arial"/>
                <a:sym typeface="Arial"/>
              </a:rPr>
              <a:t>Test R² ≈ </a:t>
            </a:r>
            <a:r>
              <a:rPr b="1" i="0" lang="en" sz="1400" u="none">
                <a:solidFill>
                  <a:srgbClr val="282A2C"/>
                </a:solidFill>
                <a:latin typeface="Arial"/>
                <a:ea typeface="Arial"/>
                <a:cs typeface="Arial"/>
                <a:sym typeface="Arial"/>
              </a:rPr>
              <a:t>0.365</a:t>
            </a:r>
            <a:endParaRPr>
              <a:solidFill>
                <a:srgbClr val="282A2C"/>
              </a:solidFill>
            </a:endParaRPr>
          </a:p>
        </p:txBody>
      </p:sp>
      <p:pic>
        <p:nvPicPr>
          <p:cNvPr descr="A screenshot of a computer program&#10;&#10;AI-generated content may be incorrect." id="214" name="Google Shape;214;p25"/>
          <p:cNvPicPr preferRelativeResize="0"/>
          <p:nvPr/>
        </p:nvPicPr>
        <p:blipFill rotWithShape="1">
          <a:blip r:embed="rId3">
            <a:alphaModFix/>
          </a:blip>
          <a:srcRect b="0" l="0" r="0" t="0"/>
          <a:stretch/>
        </p:blipFill>
        <p:spPr>
          <a:xfrm>
            <a:off x="4783137" y="1414463"/>
            <a:ext cx="3860800" cy="29646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Classification</a:t>
            </a:r>
            <a:endParaRPr/>
          </a:p>
        </p:txBody>
      </p:sp>
      <p:sp>
        <p:nvSpPr>
          <p:cNvPr id="220" name="Google Shape;220;p26"/>
          <p:cNvSpPr txBox="1"/>
          <p:nvPr>
            <p:ph idx="1" type="body"/>
          </p:nvPr>
        </p:nvSpPr>
        <p:spPr>
          <a:xfrm>
            <a:off x="819150" y="1990725"/>
            <a:ext cx="7505700" cy="2448000"/>
          </a:xfrm>
          <a:prstGeom prst="rect">
            <a:avLst/>
          </a:prstGeom>
          <a:solidFill>
            <a:schemeClr val="lt1"/>
          </a:solidFill>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None/>
            </a:pPr>
            <a:r>
              <a:rPr lang="en" sz="2000">
                <a:solidFill>
                  <a:schemeClr val="dk1"/>
                </a:solidFill>
                <a:highlight>
                  <a:schemeClr val="lt1"/>
                </a:highlight>
                <a:latin typeface="Courier New"/>
                <a:ea typeface="Courier New"/>
                <a:cs typeface="Courier New"/>
                <a:sym typeface="Courier New"/>
              </a:rPr>
              <a:t>Independent</a:t>
            </a:r>
            <a:r>
              <a:rPr lang="en" sz="2000">
                <a:solidFill>
                  <a:schemeClr val="dk1"/>
                </a:solidFill>
                <a:highlight>
                  <a:schemeClr val="lt1"/>
                </a:highlight>
                <a:latin typeface="Courier New"/>
                <a:ea typeface="Courier New"/>
                <a:cs typeface="Courier New"/>
                <a:sym typeface="Courier New"/>
              </a:rPr>
              <a:t> </a:t>
            </a:r>
            <a:r>
              <a:rPr lang="en" sz="2000">
                <a:solidFill>
                  <a:schemeClr val="dk1"/>
                </a:solidFill>
                <a:highlight>
                  <a:schemeClr val="lt1"/>
                </a:highlight>
                <a:latin typeface="Courier New"/>
                <a:ea typeface="Courier New"/>
                <a:cs typeface="Courier New"/>
                <a:sym typeface="Courier New"/>
              </a:rPr>
              <a:t>variables</a:t>
            </a:r>
            <a:r>
              <a:rPr lang="en" sz="2000">
                <a:solidFill>
                  <a:schemeClr val="dk1"/>
                </a:solidFill>
                <a:highlight>
                  <a:schemeClr val="lt1"/>
                </a:highlight>
                <a:latin typeface="Courier New"/>
                <a:ea typeface="Courier New"/>
                <a:cs typeface="Courier New"/>
                <a:sym typeface="Courier New"/>
              </a:rPr>
              <a:t> = df[['Age', 'Experience', 'Income', 'Family', 'Education',</a:t>
            </a:r>
            <a:endParaRPr sz="20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2000">
                <a:solidFill>
                  <a:schemeClr val="dk1"/>
                </a:solidFill>
                <a:highlight>
                  <a:schemeClr val="lt1"/>
                </a:highlight>
                <a:latin typeface="Courier New"/>
                <a:ea typeface="Courier New"/>
                <a:cs typeface="Courier New"/>
                <a:sym typeface="Courier New"/>
              </a:rPr>
              <a:t>       'Mortgage', 'Securities_Account',</a:t>
            </a:r>
            <a:endParaRPr sz="20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2000">
                <a:solidFill>
                  <a:schemeClr val="dk1"/>
                </a:solidFill>
                <a:highlight>
                  <a:schemeClr val="lt1"/>
                </a:highlight>
                <a:latin typeface="Courier New"/>
                <a:ea typeface="Courier New"/>
                <a:cs typeface="Courier New"/>
                <a:sym typeface="Courier New"/>
              </a:rPr>
              <a:t>       'Online', 'CreditCard', '</a:t>
            </a:r>
            <a:r>
              <a:rPr b="1" lang="en" sz="2000">
                <a:solidFill>
                  <a:schemeClr val="dk1"/>
                </a:solidFill>
                <a:highlight>
                  <a:schemeClr val="lt1"/>
                </a:highlight>
                <a:latin typeface="Courier New"/>
                <a:ea typeface="Courier New"/>
                <a:cs typeface="Courier New"/>
                <a:sym typeface="Courier New"/>
              </a:rPr>
              <a:t>CCPred</a:t>
            </a:r>
            <a:r>
              <a:rPr lang="en" sz="2000">
                <a:solidFill>
                  <a:schemeClr val="dk1"/>
                </a:solidFill>
                <a:highlight>
                  <a:schemeClr val="lt1"/>
                </a:highlight>
                <a:latin typeface="Courier New"/>
                <a:ea typeface="Courier New"/>
                <a:cs typeface="Courier New"/>
                <a:sym typeface="Courier New"/>
              </a:rPr>
              <a:t>']]</a:t>
            </a:r>
            <a:endParaRPr sz="20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2000">
                <a:solidFill>
                  <a:schemeClr val="dk1"/>
                </a:solidFill>
                <a:highlight>
                  <a:schemeClr val="lt1"/>
                </a:highlight>
                <a:latin typeface="Courier New"/>
                <a:ea typeface="Courier New"/>
                <a:cs typeface="Courier New"/>
                <a:sym typeface="Courier New"/>
              </a:rPr>
              <a:t>Target Variable = df['Personal_Loan']</a:t>
            </a:r>
            <a:endParaRPr sz="20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1"/>
              <a:buFont typeface="Arial"/>
              <a:buNone/>
            </a:pPr>
            <a:r>
              <a:t/>
            </a:r>
            <a:endParaRPr sz="10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Imbalance</a:t>
            </a:r>
            <a:r>
              <a:rPr lang="en"/>
              <a:t> Data </a:t>
            </a:r>
            <a:endParaRPr/>
          </a:p>
        </p:txBody>
      </p:sp>
      <p:sp>
        <p:nvSpPr>
          <p:cNvPr id="226" name="Google Shape;226;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50">
                <a:solidFill>
                  <a:schemeClr val="dk1"/>
                </a:solidFill>
                <a:highlight>
                  <a:schemeClr val="lt1"/>
                </a:highlight>
                <a:latin typeface="Courier New"/>
                <a:ea typeface="Courier New"/>
                <a:cs typeface="Courier New"/>
                <a:sym typeface="Courier New"/>
              </a:rPr>
              <a:t>Before SMOTE: Personal_Loan</a:t>
            </a:r>
            <a:endParaRPr sz="1050">
              <a:solidFill>
                <a:schemeClr val="dk1"/>
              </a:solidFill>
              <a:highlight>
                <a:schemeClr val="lt1"/>
              </a:highlight>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highlight>
                  <a:schemeClr val="lt1"/>
                </a:highlight>
                <a:latin typeface="Courier New"/>
                <a:ea typeface="Courier New"/>
                <a:cs typeface="Courier New"/>
                <a:sym typeface="Courier New"/>
              </a:rPr>
              <a:t>0    3616</a:t>
            </a:r>
            <a:endParaRPr sz="1050">
              <a:solidFill>
                <a:schemeClr val="dk1"/>
              </a:solidFill>
              <a:highlight>
                <a:schemeClr val="lt1"/>
              </a:highlight>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highlight>
                  <a:schemeClr val="lt1"/>
                </a:highlight>
                <a:latin typeface="Courier New"/>
                <a:ea typeface="Courier New"/>
                <a:cs typeface="Courier New"/>
                <a:sym typeface="Courier New"/>
              </a:rPr>
              <a:t>1     384</a:t>
            </a:r>
            <a:endParaRPr sz="1050">
              <a:solidFill>
                <a:schemeClr val="dk1"/>
              </a:solidFill>
              <a:highlight>
                <a:schemeClr val="lt1"/>
              </a:highlight>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highlight>
                  <a:schemeClr val="lt1"/>
                </a:highlight>
                <a:latin typeface="Courier New"/>
                <a:ea typeface="Courier New"/>
                <a:cs typeface="Courier New"/>
                <a:sym typeface="Courier New"/>
              </a:rPr>
              <a:t>After SMOTE: Personal_Loan</a:t>
            </a:r>
            <a:endParaRPr sz="1050">
              <a:solidFill>
                <a:schemeClr val="dk1"/>
              </a:solidFill>
              <a:highlight>
                <a:schemeClr val="lt1"/>
              </a:highlight>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highlight>
                  <a:schemeClr val="lt1"/>
                </a:highlight>
                <a:latin typeface="Courier New"/>
                <a:ea typeface="Courier New"/>
                <a:cs typeface="Courier New"/>
                <a:sym typeface="Courier New"/>
              </a:rPr>
              <a:t>0    3616</a:t>
            </a:r>
            <a:endParaRPr sz="1050">
              <a:solidFill>
                <a:schemeClr val="dk1"/>
              </a:solidFill>
              <a:highlight>
                <a:schemeClr val="lt1"/>
              </a:highlight>
              <a:latin typeface="Courier New"/>
              <a:ea typeface="Courier New"/>
              <a:cs typeface="Courier New"/>
              <a:sym typeface="Courier New"/>
            </a:endParaRPr>
          </a:p>
          <a:p>
            <a:pPr indent="0" lvl="0" marL="0" rtl="0" algn="l">
              <a:spcBef>
                <a:spcPts val="1200"/>
              </a:spcBef>
              <a:spcAft>
                <a:spcPts val="1200"/>
              </a:spcAft>
              <a:buNone/>
            </a:pPr>
            <a:r>
              <a:rPr lang="en" sz="1050">
                <a:solidFill>
                  <a:schemeClr val="dk1"/>
                </a:solidFill>
                <a:highlight>
                  <a:schemeClr val="lt1"/>
                </a:highlight>
                <a:latin typeface="Courier New"/>
                <a:ea typeface="Courier New"/>
                <a:cs typeface="Courier New"/>
                <a:sym typeface="Courier New"/>
              </a:rPr>
              <a:t>1    3616</a:t>
            </a:r>
            <a:endParaRPr>
              <a:solidFill>
                <a:schemeClr val="dk1"/>
              </a:solidFill>
              <a:highlight>
                <a:schemeClr val="lt1"/>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used</a:t>
            </a:r>
            <a:endParaRPr/>
          </a:p>
        </p:txBody>
      </p:sp>
      <p:sp>
        <p:nvSpPr>
          <p:cNvPr id="232" name="Google Shape;232;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lnSpc>
                <a:spcPct val="135714"/>
              </a:lnSpc>
              <a:spcBef>
                <a:spcPts val="0"/>
              </a:spcBef>
              <a:spcAft>
                <a:spcPts val="0"/>
              </a:spcAft>
              <a:buClr>
                <a:schemeClr val="dk1"/>
              </a:buClr>
              <a:buSzPts val="1100"/>
              <a:buFont typeface="Arial"/>
              <a:buNone/>
            </a:pPr>
            <a:r>
              <a:rPr lang="en" sz="1050">
                <a:solidFill>
                  <a:schemeClr val="dk1"/>
                </a:solidFill>
                <a:highlight>
                  <a:schemeClr val="lt1"/>
                </a:highlight>
                <a:latin typeface="Courier New"/>
                <a:ea typeface="Courier New"/>
                <a:cs typeface="Courier New"/>
                <a:sym typeface="Courier New"/>
              </a:rPr>
              <a:t>    </a:t>
            </a:r>
            <a:r>
              <a:rPr lang="en" sz="1450">
                <a:solidFill>
                  <a:schemeClr val="dk1"/>
                </a:solidFill>
                <a:highlight>
                  <a:schemeClr val="lt1"/>
                </a:highlight>
                <a:latin typeface="Courier New"/>
                <a:ea typeface="Courier New"/>
                <a:cs typeface="Courier New"/>
                <a:sym typeface="Courier New"/>
              </a:rPr>
              <a:t>"Logistic Regression" (S)</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"Decision Tree"</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"Random Forest"</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"Gradient Boosting"</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"K-Nearest Neighbors"(S)</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"Support Vector Machine"(S)</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"Naive Bayes"</a:t>
            </a:r>
            <a:endParaRPr sz="145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chemeClr val="lt1"/>
                </a:highlight>
                <a:latin typeface="Courier New"/>
                <a:ea typeface="Courier New"/>
                <a:cs typeface="Courier New"/>
                <a:sym typeface="Courier New"/>
              </a:rPr>
              <a:t>    "Neural Network"(S)</a:t>
            </a:r>
            <a:endParaRPr sz="14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results</a:t>
            </a:r>
            <a:endParaRPr/>
          </a:p>
        </p:txBody>
      </p:sp>
      <p:sp>
        <p:nvSpPr>
          <p:cNvPr id="238" name="Google Shape;238;p2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935">
                <a:solidFill>
                  <a:schemeClr val="dk1"/>
                </a:solidFill>
                <a:highlight>
                  <a:schemeClr val="lt1"/>
                </a:highlight>
                <a:latin typeface="Courier New"/>
                <a:ea typeface="Courier New"/>
                <a:cs typeface="Courier New"/>
                <a:sym typeface="Courier New"/>
              </a:rPr>
              <a:t>                   Model  Accuracy  F1 Score   ROC AUC</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b="1" lang="en" sz="935">
                <a:solidFill>
                  <a:schemeClr val="dk1"/>
                </a:solidFill>
                <a:highlight>
                  <a:schemeClr val="lt1"/>
                </a:highlight>
                <a:latin typeface="Courier New"/>
                <a:ea typeface="Courier New"/>
                <a:cs typeface="Courier New"/>
                <a:sym typeface="Courier New"/>
              </a:rPr>
              <a:t>2           Random Forest     0.969  0.851675  0.981298</a:t>
            </a:r>
            <a:endParaRPr b="1"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3       Gradient Boosting     0.944  0.764706  0.984502</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7          Neural Network     0.942  0.750000  0.977795</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1           Decision Tree     0.938  0.732759  0.914500</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5  Support Vector Machine     0.929  0.710204  0.981333</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4     K-Nearest Neighbors     0.906  0.620968  0.939580</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0"/>
              </a:spcAft>
              <a:buSzPts val="770"/>
              <a:buNone/>
            </a:pPr>
            <a:r>
              <a:rPr lang="en" sz="935">
                <a:solidFill>
                  <a:schemeClr val="dk1"/>
                </a:solidFill>
                <a:highlight>
                  <a:schemeClr val="lt1"/>
                </a:highlight>
                <a:latin typeface="Courier New"/>
                <a:ea typeface="Courier New"/>
                <a:cs typeface="Courier New"/>
                <a:sym typeface="Courier New"/>
              </a:rPr>
              <a:t>0     Logistic Regression     0.866  0.562092  0.945013</a:t>
            </a:r>
            <a:endParaRPr sz="935">
              <a:solidFill>
                <a:schemeClr val="dk1"/>
              </a:solidFill>
              <a:highlight>
                <a:schemeClr val="lt1"/>
              </a:highlight>
              <a:latin typeface="Courier New"/>
              <a:ea typeface="Courier New"/>
              <a:cs typeface="Courier New"/>
              <a:sym typeface="Courier New"/>
            </a:endParaRPr>
          </a:p>
          <a:p>
            <a:pPr indent="0" lvl="0" marL="0" rtl="0" algn="l">
              <a:lnSpc>
                <a:spcPct val="95000"/>
              </a:lnSpc>
              <a:spcBef>
                <a:spcPts val="1200"/>
              </a:spcBef>
              <a:spcAft>
                <a:spcPts val="1200"/>
              </a:spcAft>
              <a:buSzPts val="770"/>
              <a:buNone/>
            </a:pPr>
            <a:r>
              <a:rPr lang="en" sz="935">
                <a:solidFill>
                  <a:schemeClr val="dk1"/>
                </a:solidFill>
                <a:highlight>
                  <a:schemeClr val="lt1"/>
                </a:highlight>
                <a:latin typeface="Courier New"/>
                <a:ea typeface="Courier New"/>
                <a:cs typeface="Courier New"/>
                <a:sym typeface="Courier New"/>
              </a:rPr>
              <a:t>6             Naive Bayes     0.859  0.525253  0.871405</a:t>
            </a:r>
            <a:endParaRPr sz="1110">
              <a:solidFill>
                <a:schemeClr val="dk1"/>
              </a:solidFill>
              <a:highlight>
                <a:schemeClr val="lt1"/>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Tuning Results</a:t>
            </a:r>
            <a:endParaRPr/>
          </a:p>
        </p:txBody>
      </p:sp>
      <p:pic>
        <p:nvPicPr>
          <p:cNvPr id="244" name="Google Shape;244;p30"/>
          <p:cNvPicPr preferRelativeResize="0"/>
          <p:nvPr/>
        </p:nvPicPr>
        <p:blipFill>
          <a:blip r:embed="rId3">
            <a:alphaModFix/>
          </a:blip>
          <a:stretch>
            <a:fillRect/>
          </a:stretch>
        </p:blipFill>
        <p:spPr>
          <a:xfrm>
            <a:off x="1774738" y="1432725"/>
            <a:ext cx="5594525" cy="3194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Understanding</a:t>
            </a:r>
            <a:r>
              <a:rPr lang="en"/>
              <a:t> Results</a:t>
            </a:r>
            <a:endParaRPr/>
          </a:p>
        </p:txBody>
      </p:sp>
      <p:sp>
        <p:nvSpPr>
          <p:cNvPr id="250" name="Google Shape;250;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282A2C"/>
              </a:buClr>
              <a:buSzPts val="1100"/>
              <a:buChar char="●"/>
            </a:pPr>
            <a:r>
              <a:rPr b="1" lang="en" sz="1100">
                <a:solidFill>
                  <a:srgbClr val="282A2C"/>
                </a:solidFill>
              </a:rPr>
              <a:t>Random Forest</a:t>
            </a:r>
            <a:r>
              <a:rPr lang="en" sz="1100">
                <a:solidFill>
                  <a:srgbClr val="282A2C"/>
                </a:solidFill>
              </a:rPr>
              <a:t> has the lowest combined False Positives (27) and False Negatives (7), indicating strong balance.</a:t>
            </a:r>
            <a:br>
              <a:rPr lang="en" sz="1100">
                <a:solidFill>
                  <a:srgbClr val="282A2C"/>
                </a:solidFill>
              </a:rPr>
            </a:br>
            <a:endParaRPr sz="1100">
              <a:solidFill>
                <a:srgbClr val="282A2C"/>
              </a:solidFill>
            </a:endParaRPr>
          </a:p>
          <a:p>
            <a:pPr indent="-298450" lvl="0" marL="457200" rtl="0" algn="l">
              <a:spcBef>
                <a:spcPts val="0"/>
              </a:spcBef>
              <a:spcAft>
                <a:spcPts val="0"/>
              </a:spcAft>
              <a:buClr>
                <a:srgbClr val="282A2C"/>
              </a:buClr>
              <a:buSzPts val="1100"/>
              <a:buChar char="●"/>
            </a:pPr>
            <a:r>
              <a:rPr b="1" lang="en" sz="1100">
                <a:solidFill>
                  <a:srgbClr val="282A2C"/>
                </a:solidFill>
              </a:rPr>
              <a:t>Gradient Boosting</a:t>
            </a:r>
            <a:r>
              <a:rPr lang="en" sz="1100">
                <a:solidFill>
                  <a:srgbClr val="282A2C"/>
                </a:solidFill>
              </a:rPr>
              <a:t> performs nearly identically to Random Forest.</a:t>
            </a:r>
            <a:br>
              <a:rPr lang="en" sz="1100">
                <a:solidFill>
                  <a:srgbClr val="282A2C"/>
                </a:solidFill>
              </a:rPr>
            </a:br>
            <a:endParaRPr sz="1100">
              <a:solidFill>
                <a:srgbClr val="282A2C"/>
              </a:solidFill>
            </a:endParaRPr>
          </a:p>
          <a:p>
            <a:pPr indent="-298450" lvl="0" marL="457200" rtl="0" algn="l">
              <a:spcBef>
                <a:spcPts val="0"/>
              </a:spcBef>
              <a:spcAft>
                <a:spcPts val="0"/>
              </a:spcAft>
              <a:buClr>
                <a:srgbClr val="282A2C"/>
              </a:buClr>
              <a:buSzPts val="1100"/>
              <a:buChar char="●"/>
            </a:pPr>
            <a:r>
              <a:rPr lang="en" sz="1100">
                <a:solidFill>
                  <a:srgbClr val="282A2C"/>
                </a:solidFill>
              </a:rPr>
              <a:t>Logistic Regression and Naive Bayes show higher False Positives and lower F1 scores.</a:t>
            </a:r>
            <a:br>
              <a:rPr lang="en" sz="1100">
                <a:solidFill>
                  <a:srgbClr val="282A2C"/>
                </a:solidFill>
              </a:rPr>
            </a:br>
            <a:endParaRPr sz="1100">
              <a:solidFill>
                <a:srgbClr val="282A2C"/>
              </a:solidFill>
            </a:endParaRPr>
          </a:p>
          <a:p>
            <a:pPr indent="-298450" lvl="0" marL="457200" rtl="0" algn="l">
              <a:spcBef>
                <a:spcPts val="0"/>
              </a:spcBef>
              <a:spcAft>
                <a:spcPts val="0"/>
              </a:spcAft>
              <a:buClr>
                <a:srgbClr val="282A2C"/>
              </a:buClr>
              <a:buSzPts val="1100"/>
              <a:buChar char="●"/>
            </a:pPr>
            <a:r>
              <a:rPr lang="en" sz="1100">
                <a:solidFill>
                  <a:srgbClr val="282A2C"/>
                </a:solidFill>
              </a:rPr>
              <a:t>Ensemble methods clearly outperform simpler linear and probabilistic models.</a:t>
            </a:r>
            <a:br>
              <a:rPr lang="en" sz="1100">
                <a:solidFill>
                  <a:srgbClr val="282A2C"/>
                </a:solidFill>
              </a:rPr>
            </a:br>
            <a:endParaRPr sz="1100">
              <a:solidFill>
                <a:srgbClr val="282A2C"/>
              </a:solidFill>
            </a:endParaRPr>
          </a:p>
          <a:p>
            <a:pPr indent="0" lvl="0" marL="0" rtl="0" algn="l">
              <a:spcBef>
                <a:spcPts val="1200"/>
              </a:spcBef>
              <a:spcAft>
                <a:spcPts val="0"/>
              </a:spcAft>
              <a:buClr>
                <a:schemeClr val="dk1"/>
              </a:buClr>
              <a:buSzPts val="1100"/>
              <a:buFont typeface="Arial"/>
              <a:buNone/>
            </a:pPr>
            <a:r>
              <a:rPr lang="en" sz="1100">
                <a:solidFill>
                  <a:srgbClr val="282A2C"/>
                </a:solidFill>
              </a:rPr>
              <a:t>Random Forest is the strongest overall model for predicting personal loan acceptance.</a:t>
            </a:r>
            <a:endParaRPr sz="1100">
              <a:solidFill>
                <a:srgbClr val="282A2C"/>
              </a:solidFill>
            </a:endParaRPr>
          </a:p>
          <a:p>
            <a:pPr indent="0" lvl="0" marL="0" rtl="0" algn="l">
              <a:spcBef>
                <a:spcPts val="1200"/>
              </a:spcBef>
              <a:spcAft>
                <a:spcPts val="1200"/>
              </a:spcAft>
              <a:buNone/>
            </a:pPr>
            <a:r>
              <a:t/>
            </a:r>
            <a:endParaRPr>
              <a:solidFill>
                <a:srgbClr val="282A2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819150" y="8306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256" name="Google Shape;256;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Income-driven spending behavior is a strong predictor of loan acceptance.</a:t>
            </a:r>
            <a:endParaRPr/>
          </a:p>
          <a:p>
            <a:pPr indent="0" lvl="0" marL="0" rtl="0" algn="l">
              <a:spcBef>
                <a:spcPts val="1200"/>
              </a:spcBef>
              <a:spcAft>
                <a:spcPts val="0"/>
              </a:spcAft>
              <a:buNone/>
            </a:pPr>
            <a:r>
              <a:rPr lang="en"/>
              <a:t>Random Forest is the most reliable model for targeting high-probability personal loan customers.</a:t>
            </a:r>
            <a:endParaRPr/>
          </a:p>
          <a:p>
            <a:pPr indent="0" lvl="0" marL="0" rtl="0" algn="l">
              <a:spcBef>
                <a:spcPts val="1200"/>
              </a:spcBef>
              <a:spcAft>
                <a:spcPts val="0"/>
              </a:spcAft>
              <a:buNone/>
            </a:pPr>
            <a:r>
              <a:rPr lang="en"/>
              <a:t>Using predicted credit card spending as an additional feature significantly improved classification performance.</a:t>
            </a:r>
            <a:endParaRPr/>
          </a:p>
          <a:p>
            <a:pPr indent="0" lvl="0" marL="0" rtl="0" algn="l">
              <a:spcBef>
                <a:spcPts val="1200"/>
              </a:spcBef>
              <a:spcAft>
                <a:spcPts val="1200"/>
              </a:spcAft>
              <a:buNone/>
            </a:pPr>
            <a:r>
              <a:rPr lang="en"/>
              <a:t>This data-driven approach enables the bank to optimize marketing efforts, reduce acquisition costs, and increase overall loan conversion rates.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3368500" y="22361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