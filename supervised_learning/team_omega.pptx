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1" r:id="rId9"/>
    <p:sldId id="272" r:id="rId10"/>
    <p:sldId id="262" r:id="rId11"/>
    <p:sldId id="266" r:id="rId12"/>
    <p:sldId id="271" r:id="rId13"/>
    <p:sldId id="267" r:id="rId14"/>
    <p:sldId id="268" r:id="rId15"/>
    <p:sldId id="269" r:id="rId16"/>
    <p:sldId id="270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29F24-60EF-4334-89CF-EBA0B8864D4B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7787B-C2B3-4193-AF1A-DC358A859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60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7787B-C2B3-4193-AF1A-DC358A85980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74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EE2C-956D-BC46-A8D1-A62AE0281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DC4EE-8CD4-6773-04F0-4D6F38E53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2CEF-92ED-022B-48B1-E1524412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AA84-3E88-81DA-284B-52D1E426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77B8C-F8DA-C21A-0F8A-B8E5C360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23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C4C5-9212-DB8C-0DCA-E41A0A97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707E-07AA-9E7F-EC99-28D847208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1D14D-9E20-41CF-B7CF-D757BF6B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AF3F2-4B26-B74B-A32C-556D2BCC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1F3A-E56D-263A-E0FB-833586EA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7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0591-69D6-1C6E-CEE9-67499241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5F7C9-E361-280B-F144-7D1B2ED2E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723D-B0D7-902A-4202-FD8C6483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46D1-68E6-2FB8-0016-255A67C9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BABF9-CFF3-7272-3796-D44A2994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05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42B-BF46-B91D-BFC5-3B8D3E4A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C267-BEB7-29BA-D2CA-0045C61BC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BC60D-A54F-9649-8168-614DA1C5B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A4C21-7677-44F8-3DCA-D334FC70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9A2BD-75A6-D6ED-3C20-F2D14E47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B0D28-90DE-68B3-34FA-51F6A945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70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DD1-DC4B-EEFB-53D3-D922175B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5A046-520A-A331-C5CB-3D8786DF0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45B50-528C-AE27-2305-2220EA989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8D744-BDA5-3FB0-90C1-6416BAE7B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F7EBC-D332-3EAD-4AE1-412454C4C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B9789-B20D-0442-933D-5B2F8597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48586-A1C3-011B-B379-EF02DA0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A5B91-AF3B-A1AF-F772-46C111F1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1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273F-CD85-FB9E-1BE3-650683D7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A6543-233E-B153-90A7-B6A32B75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ED7F0-9357-1FE9-5309-22A2E67C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57185-B276-B93F-7424-DE61463E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6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EF8A6-7443-6D6E-5E01-03B55E6E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2E240-A0A1-A048-BB80-F7B38415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9DE4C-9581-2B20-EBCE-18AB4EE6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63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D129E-6D4D-ED16-F3E4-9E29D4A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5C8F-F737-FE6B-38B9-B69D42B39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C6D48-5BD9-2E74-4E11-75FB147F9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81BAC-0C2E-8DE3-367F-1A1EE4D7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C5A55-7C94-224B-C120-A2902121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D631D-E421-C4A1-D8AF-10233F3D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91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CE3B-80A2-BC40-A881-815DF1F2B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ED449-F491-17F6-3396-6A2CD4643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C7779-F2E5-E3C8-39DD-A6C36269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485A8-31E7-0D1E-D82B-9406DE99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C5D4B-6213-4127-1C08-6B4B684C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2FAAA-551A-B8EB-4AD3-A4588D9C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52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523-99D4-19A6-D5F6-236EE97B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B9D8C-524C-D629-590F-CD866EC9F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52117-335B-13D5-22B7-2A6A45E6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7F76F-ECAD-0E82-3A12-BBDAF074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194F-185A-2422-9909-578B9675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26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B6980-EB40-82C5-6293-845F94D85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9A55A-DBD3-21EB-ED34-EE448AC6D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9FD81-B369-84CB-4929-0055CF83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0C714-709F-4421-24D4-C6F1F50D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452DC-4310-56D6-A343-61F654D5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47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78A96-E873-94D2-49AD-25ECB664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ACB84-63C4-E9A2-CA43-FA1EC2AD4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5AD27-2BCA-8619-3C33-54FC86CA3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52564-AC76-41D5-A181-67F083FEDF75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4A095-FD67-D44D-9248-39223527B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256C9-58E1-B47B-A10C-9ACBE6149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C3629-C77D-454E-BFB1-8E438B36C8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50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DA02-94EE-FE41-FA6B-F942201F3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Customer Behavior Modeling for Loan Targeting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42600-71DF-801E-EB1A-B6BDFCEAF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By</a:t>
            </a:r>
          </a:p>
          <a:p>
            <a:r>
              <a:rPr lang="en-GB" dirty="0"/>
              <a:t>Shashikant Shirke</a:t>
            </a:r>
          </a:p>
          <a:p>
            <a:r>
              <a:rPr lang="en-GB" dirty="0"/>
              <a:t>Nabin Pun</a:t>
            </a:r>
          </a:p>
          <a:p>
            <a:r>
              <a:rPr lang="en-GB" dirty="0" err="1"/>
              <a:t>Medunoye</a:t>
            </a:r>
            <a:r>
              <a:rPr lang="en-GB" dirty="0"/>
              <a:t>  Gbenga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267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6BB-756D-E508-C322-32D7B3CB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570E13-0916-BA8D-38C1-F46C0A1C9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984"/>
            <a:ext cx="10515600" cy="5161979"/>
          </a:xfrm>
        </p:spPr>
        <p:txBody>
          <a:bodyPr/>
          <a:lstStyle/>
          <a:p>
            <a:r>
              <a:rPr lang="en-GB" b="1" dirty="0" err="1"/>
              <a:t>AllLife</a:t>
            </a:r>
            <a:r>
              <a:rPr lang="en-GB" b="1" dirty="0"/>
              <a:t> Bank</a:t>
            </a:r>
          </a:p>
          <a:p>
            <a:pPr marL="0" indent="0">
              <a:buNone/>
            </a:pPr>
            <a:r>
              <a:rPr lang="en-GB" dirty="0" err="1"/>
              <a:t>AllLife</a:t>
            </a:r>
            <a:r>
              <a:rPr lang="en-GB" dirty="0"/>
              <a:t> Bank is a mid-sized, growing retail bank offering savings accounts, checking accounts, fixed deposits and personal loans. </a:t>
            </a:r>
          </a:p>
          <a:p>
            <a:pPr marL="0" indent="0">
              <a:buNone/>
            </a:pPr>
            <a:r>
              <a:rPr lang="en-GB" dirty="0"/>
              <a:t>Its main revenue comes from interest earned on loans.</a:t>
            </a:r>
          </a:p>
          <a:p>
            <a:r>
              <a:rPr lang="en-GB" b="1" dirty="0"/>
              <a:t>Business Objective</a:t>
            </a:r>
          </a:p>
          <a:p>
            <a:pPr marL="0" indent="0">
              <a:buNone/>
            </a:pPr>
            <a:r>
              <a:rPr lang="en-GB" dirty="0"/>
              <a:t>To increase profitability, the bank wants to convert existing deposit customers into personal loan customers and grow its loan portfolio.</a:t>
            </a:r>
          </a:p>
          <a:p>
            <a:r>
              <a:rPr lang="en-GB" b="1" dirty="0"/>
              <a:t>Marketing Strategy Improvement</a:t>
            </a:r>
          </a:p>
          <a:p>
            <a:pPr marL="0" indent="0">
              <a:buNone/>
            </a:pPr>
            <a:r>
              <a:rPr lang="en-GB" dirty="0"/>
              <a:t>Instead of targeting customers based only on </a:t>
            </a:r>
            <a:r>
              <a:rPr lang="en-GB" b="1" dirty="0"/>
              <a:t>static</a:t>
            </a:r>
            <a:r>
              <a:rPr lang="en-GB" dirty="0"/>
              <a:t> </a:t>
            </a:r>
            <a:r>
              <a:rPr lang="en-GB" b="1" dirty="0"/>
              <a:t>factors</a:t>
            </a:r>
            <a:r>
              <a:rPr lang="en-GB" dirty="0"/>
              <a:t> like age or income, the bank wants to </a:t>
            </a:r>
            <a:r>
              <a:rPr lang="en-GB" dirty="0" err="1"/>
              <a:t>analyze</a:t>
            </a:r>
            <a:r>
              <a:rPr lang="en-GB" dirty="0"/>
              <a:t> customer spending </a:t>
            </a:r>
            <a:r>
              <a:rPr lang="en-GB" dirty="0" err="1"/>
              <a:t>behavior</a:t>
            </a:r>
            <a:r>
              <a:rPr lang="en-GB" dirty="0"/>
              <a:t> for better decision-making.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62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868A-CBB2-9DE4-146D-CA30A6A5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40"/>
            <a:ext cx="10515600" cy="585692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Current Challenge</a:t>
            </a:r>
          </a:p>
          <a:p>
            <a:pPr marL="0" indent="0">
              <a:buNone/>
            </a:pPr>
            <a:r>
              <a:rPr lang="en-GB" dirty="0"/>
              <a:t>The bank has many deposit customers (liabilities) but fewer loan customers (assets). This imbalance limits its ability to maximize interest income.</a:t>
            </a:r>
          </a:p>
          <a:p>
            <a:pPr marL="0" indent="0">
              <a:buNone/>
            </a:pPr>
            <a:r>
              <a:rPr lang="en-GB" b="1" dirty="0"/>
              <a:t>Goals</a:t>
            </a:r>
          </a:p>
          <a:p>
            <a:pPr marL="0" indent="0">
              <a:buNone/>
            </a:pPr>
            <a:r>
              <a:rPr lang="en-GB" dirty="0"/>
              <a:t>- Predict each customer’s expected monthly credit card spending.</a:t>
            </a:r>
          </a:p>
          <a:p>
            <a:pPr>
              <a:buFontTx/>
              <a:buChar char="-"/>
            </a:pPr>
            <a:r>
              <a:rPr lang="en-GB" dirty="0"/>
              <a:t>Use this predicted spending along with demographic and financial data to identify customers most likely to accept a personal loan offer.</a:t>
            </a:r>
          </a:p>
          <a:p>
            <a:pPr>
              <a:buFontTx/>
              <a:buChar char="-"/>
            </a:pPr>
            <a:r>
              <a:rPr lang="en-GB" b="1" dirty="0"/>
              <a:t>Regression Model:</a:t>
            </a:r>
            <a:r>
              <a:rPr lang="en-GB" dirty="0"/>
              <a:t> Used to predict customers’ expected monthly credit card spending (continuous outcome).</a:t>
            </a:r>
          </a:p>
          <a:p>
            <a:pPr>
              <a:buFontTx/>
              <a:buChar char="-"/>
            </a:pPr>
            <a:r>
              <a:rPr lang="en-GB" b="1" dirty="0"/>
              <a:t>Classification Model:</a:t>
            </a:r>
            <a:r>
              <a:rPr lang="en-GB" dirty="0"/>
              <a:t> Used to predict the likelihood of a customer accepting a personal loan offer (binary outcome: Yes/No).</a:t>
            </a:r>
          </a:p>
          <a:p>
            <a:r>
              <a:rPr lang="en-GB" b="1" dirty="0"/>
              <a:t>Business Impact</a:t>
            </a:r>
            <a:br>
              <a:rPr lang="en-GB" dirty="0"/>
            </a:br>
            <a:r>
              <a:rPr lang="en-GB" dirty="0"/>
              <a:t>This combined regression and classification approach enables more precise targeting, higher loan conversion rates and improved profitability.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031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CB6D8-FCCC-2886-921D-216E7A0D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50" y="173736"/>
            <a:ext cx="11156850" cy="6003227"/>
          </a:xfrm>
        </p:spPr>
        <p:txBody>
          <a:bodyPr/>
          <a:lstStyle/>
          <a:p>
            <a:r>
              <a:rPr lang="en-GB" b="1" dirty="0"/>
              <a:t>Univariate Analysis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785D77-9313-4F85-3F76-57F0CE57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953" y="1262063"/>
            <a:ext cx="5770436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658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F49C-2FE3-B663-9965-3EC1C0DC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Bivariate Analysis</a:t>
            </a:r>
            <a:br>
              <a:rPr lang="en-GB" dirty="0"/>
            </a:b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25DF7B-98CF-079A-F88A-D26ED6B3E2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207008"/>
            <a:ext cx="9921240" cy="476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98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06D6-D4D1-8A42-8A61-4FDB42CE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Regression: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B566145-6087-4EC4-70E4-46870B0F34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1554481"/>
            <a:ext cx="9656064" cy="351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40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FC54451-9AB1-9637-2331-3861DF56FE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365125"/>
            <a:ext cx="9592056" cy="580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CA2596D-7031-E560-7CFA-868D614E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1471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48975E-EC9B-CA62-815F-985205581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86" y="615624"/>
            <a:ext cx="10997514" cy="1953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F2D5A6-727E-3941-30C3-959D668FC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86" y="3374136"/>
            <a:ext cx="11017292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8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1B9E-49FC-7413-03E7-609C489E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Chose </a:t>
            </a:r>
            <a:r>
              <a:rPr lang="en-GB" dirty="0" err="1"/>
              <a:t>XGBoost</a:t>
            </a:r>
            <a:r>
              <a:rPr lang="en-GB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894E0-227B-C4E4-418A-FF04D77D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 bank, we want to capture as many people who will accept the loan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This implies </a:t>
            </a:r>
            <a:r>
              <a:rPr lang="en-GB" b="1" dirty="0"/>
              <a:t>Precision</a:t>
            </a:r>
            <a:r>
              <a:rPr lang="en-GB" dirty="0"/>
              <a:t> has a higher weight than </a:t>
            </a:r>
            <a:r>
              <a:rPr lang="en-GB" b="1" dirty="0"/>
              <a:t>Recall</a:t>
            </a:r>
          </a:p>
        </p:txBody>
      </p:sp>
    </p:spTree>
    <p:extLst>
      <p:ext uri="{BB962C8B-B14F-4D97-AF65-F5344CB8AC3E}">
        <p14:creationId xmlns:p14="http://schemas.microsoft.com/office/powerpoint/2010/main" val="395108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4D31-CB1F-2DDF-77C5-7973B679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58912" cy="43954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EXECUTIVE SUMMARY: KEY FINDINGS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9F83-4F82-2E8C-9507-3D098C7B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672"/>
            <a:ext cx="10515600" cy="5372291"/>
          </a:xfrm>
        </p:spPr>
        <p:txBody>
          <a:bodyPr/>
          <a:lstStyle/>
          <a:p>
            <a:r>
              <a:rPr lang="en-GB" b="1" dirty="0"/>
              <a:t>Target Customer Characteristics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HIGH PRIORITY (Loan Acceptance Rate: 40-50%)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Income: &gt;$120K</a:t>
            </a:r>
          </a:p>
          <a:p>
            <a:pPr marL="0" indent="0">
              <a:buNone/>
            </a:pPr>
            <a:r>
              <a:rPr lang="en-GB" dirty="0"/>
              <a:t>- Monthly CC Spending: &gt;$3K</a:t>
            </a:r>
          </a:p>
          <a:p>
            <a:pPr marL="0" indent="0">
              <a:buNone/>
            </a:pPr>
            <a:r>
              <a:rPr lang="en-GB" dirty="0"/>
              <a:t>- Education: Advanced/Professional degree</a:t>
            </a:r>
          </a:p>
          <a:p>
            <a:pPr marL="0" indent="0">
              <a:buNone/>
            </a:pPr>
            <a:r>
              <a:rPr lang="en-GB" dirty="0"/>
              <a:t>- Has CD Account: Yes</a:t>
            </a:r>
          </a:p>
          <a:p>
            <a:pPr marL="0" indent="0">
              <a:buNone/>
            </a:pPr>
            <a:r>
              <a:rPr lang="en-GB" dirty="0"/>
              <a:t>- Has Securities Account: Yes</a:t>
            </a:r>
          </a:p>
          <a:p>
            <a:pPr marL="0" indent="0">
              <a:buNone/>
            </a:pPr>
            <a:r>
              <a:rPr lang="en-GB" dirty="0"/>
              <a:t>- Estimated market size: 300-500 customers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09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84513-9C69-C96B-3A89-BB26F5EC6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192"/>
            <a:ext cx="10515600" cy="5783771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MEDIUM PRIORITY (Acceptance Rate: 15-25%)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Income: $75-120K</a:t>
            </a:r>
          </a:p>
          <a:p>
            <a:pPr marL="0" indent="0">
              <a:buNone/>
            </a:pPr>
            <a:r>
              <a:rPr lang="en-GB" dirty="0"/>
              <a:t>- Monthly CC Spending: $2-3K</a:t>
            </a:r>
          </a:p>
          <a:p>
            <a:pPr marL="0" indent="0">
              <a:buNone/>
            </a:pPr>
            <a:r>
              <a:rPr lang="en-GB" dirty="0"/>
              <a:t>- Education: Graduate degree</a:t>
            </a:r>
          </a:p>
          <a:p>
            <a:pPr marL="0" indent="0">
              <a:buNone/>
            </a:pPr>
            <a:r>
              <a:rPr lang="en-GB" dirty="0"/>
              <a:t>- Active online banking</a:t>
            </a:r>
          </a:p>
          <a:p>
            <a:pPr>
              <a:buFontTx/>
              <a:buChar char="-"/>
            </a:pPr>
            <a:r>
              <a:rPr lang="en-GB" dirty="0"/>
              <a:t>Estimated market size: 1,200-1,500 customers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LOW PRIORITY (Acceptance Rate: &lt;5%)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Income: &lt;$60K</a:t>
            </a:r>
          </a:p>
          <a:p>
            <a:pPr marL="0" indent="0">
              <a:buNone/>
            </a:pPr>
            <a:r>
              <a:rPr lang="en-GB" dirty="0"/>
              <a:t>- Monthly CC Spending: &lt;$1.5K</a:t>
            </a:r>
          </a:p>
          <a:p>
            <a:pPr marL="0" indent="0">
              <a:buNone/>
            </a:pPr>
            <a:r>
              <a:rPr lang="en-GB" dirty="0"/>
              <a:t>- Education: Undergraduate</a:t>
            </a:r>
          </a:p>
          <a:p>
            <a:pPr marL="0" indent="0">
              <a:buNone/>
            </a:pPr>
            <a:r>
              <a:rPr lang="en-GB" dirty="0"/>
              <a:t>- Minimal banking product usage</a:t>
            </a:r>
          </a:p>
          <a:p>
            <a:pPr marL="0" indent="0">
              <a:buNone/>
            </a:pPr>
            <a:r>
              <a:rPr lang="en-GB" dirty="0"/>
              <a:t>- Estimated market size: 2,500+ customers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6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32CBB3-9583-52DC-852A-661F3864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764792"/>
            <a:ext cx="9987053" cy="271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9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1468-3991-DAC6-6FAE-12DEDB2E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355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Strategic 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15FA6-158C-D518-E008-92E7F9F8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976"/>
            <a:ext cx="10515600" cy="522598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1. SEGMENTED MARKETING APPROACH</a:t>
            </a:r>
          </a:p>
          <a:p>
            <a:pPr marL="0" indent="0">
              <a:buNone/>
            </a:pPr>
            <a:r>
              <a:rPr lang="en-GB" dirty="0"/>
              <a:t>- Deploy 3-tier targeting strategy based on segments above</a:t>
            </a:r>
          </a:p>
          <a:p>
            <a:pPr marL="0" indent="0">
              <a:buNone/>
            </a:pPr>
            <a:r>
              <a:rPr lang="en-GB" dirty="0"/>
              <a:t>- Allocate 60% of marketing budget to high-priority segment</a:t>
            </a:r>
          </a:p>
          <a:p>
            <a:pPr>
              <a:buFontTx/>
              <a:buChar char="-"/>
            </a:pPr>
            <a:r>
              <a:rPr lang="en-GB" dirty="0"/>
              <a:t>Expected ROI: 3-5x improvement in conversion vs. mass marketing</a:t>
            </a:r>
          </a:p>
          <a:p>
            <a:pPr marL="0" indent="0">
              <a:buNone/>
            </a:pPr>
            <a:r>
              <a:rPr lang="en-GB" b="1" dirty="0"/>
              <a:t>2. PRODUCT BUNDLING**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Cross-sell loans to existing CD account holders (30% acceptance rate)</a:t>
            </a:r>
          </a:p>
          <a:p>
            <a:pPr marL="0" indent="0">
              <a:buNone/>
            </a:pPr>
            <a:r>
              <a:rPr lang="en-GB" dirty="0"/>
              <a:t>- Create "Premium Banking" bundle: CD + Loan + Investment advisory</a:t>
            </a:r>
          </a:p>
          <a:p>
            <a:pPr marL="0" indent="0">
              <a:buNone/>
            </a:pPr>
            <a:r>
              <a:rPr lang="en-GB" dirty="0"/>
              <a:t>- Target customers upgrading from basic to premium accounts</a:t>
            </a:r>
          </a:p>
          <a:p>
            <a:pPr>
              <a:buFontTx/>
              <a:buChar char="-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43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2A85-D51D-0718-9500-081D2111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3. BEHAVIORAL TRIGGERS</a:t>
            </a:r>
          </a:p>
          <a:p>
            <a:pPr marL="0" indent="0">
              <a:buNone/>
            </a:pPr>
            <a:r>
              <a:rPr lang="en-GB" dirty="0"/>
              <a:t>- Monitor credit card spending increases as early signal</a:t>
            </a:r>
          </a:p>
          <a:p>
            <a:pPr marL="0" indent="0">
              <a:buNone/>
            </a:pPr>
            <a:r>
              <a:rPr lang="en-GB" dirty="0"/>
              <a:t>- Trigger loan offers when spending crosses $2K/month threshold</a:t>
            </a:r>
          </a:p>
          <a:p>
            <a:pPr marL="0" indent="0">
              <a:buNone/>
            </a:pPr>
            <a:r>
              <a:rPr lang="en-GB" dirty="0"/>
              <a:t>- Use spending patterns to predict future loan interest</a:t>
            </a:r>
          </a:p>
          <a:p>
            <a:pPr marL="0" indent="0">
              <a:buNone/>
            </a:pPr>
            <a:r>
              <a:rPr lang="en-GB" b="1" dirty="0"/>
              <a:t>4. CHANNEL OPTIMIZATION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Focus digital channels for high online banking usage segment</a:t>
            </a:r>
          </a:p>
          <a:p>
            <a:pPr marL="0" indent="0">
              <a:buNone/>
            </a:pPr>
            <a:r>
              <a:rPr lang="en-GB" dirty="0"/>
              <a:t>- Personalize offer amounts based on income &amp; spending</a:t>
            </a:r>
          </a:p>
          <a:p>
            <a:pPr marL="0" indent="0">
              <a:buNone/>
            </a:pPr>
            <a:r>
              <a:rPr lang="en-GB" dirty="0"/>
              <a:t>- A/B test messaging complexity by education level</a:t>
            </a:r>
          </a:p>
          <a:p>
            <a:pPr marL="0" indent="0">
              <a:buNone/>
            </a:pPr>
            <a:r>
              <a:rPr lang="en-GB" b="1" dirty="0"/>
              <a:t>5. RISK MITIGATION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High-income customers show lower default risk (verify with credit scores)</a:t>
            </a:r>
          </a:p>
          <a:p>
            <a:pPr marL="0" indent="0">
              <a:buNone/>
            </a:pPr>
            <a:r>
              <a:rPr lang="en-GB" dirty="0"/>
              <a:t>- Spending </a:t>
            </a:r>
            <a:r>
              <a:rPr lang="en-GB" dirty="0" err="1"/>
              <a:t>behavior</a:t>
            </a:r>
            <a:r>
              <a:rPr lang="en-GB" dirty="0"/>
              <a:t> indicates financial discipline</a:t>
            </a:r>
          </a:p>
          <a:p>
            <a:pPr marL="0" indent="0">
              <a:buNone/>
            </a:pPr>
            <a:r>
              <a:rPr lang="en-GB" dirty="0"/>
              <a:t>- Existing product usage shows banking relationship strength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1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B620-88FC-A098-C61C-AA1106B6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Expected Business Impact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C0AD-A210-81D3-C435-3738FE58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If recommendations implemented</a:t>
            </a:r>
          </a:p>
          <a:p>
            <a:pPr marL="0" indent="0">
              <a:buNone/>
            </a:pPr>
            <a:r>
              <a:rPr lang="en-GB" dirty="0"/>
              <a:t>- Conversion rate improvement: </a:t>
            </a:r>
            <a:r>
              <a:rPr lang="en-GB" b="1" dirty="0"/>
              <a:t>**2-3x**</a:t>
            </a:r>
            <a:r>
              <a:rPr lang="en-GB" dirty="0"/>
              <a:t> (from ~10% to 20-30% in target segments)</a:t>
            </a:r>
          </a:p>
          <a:p>
            <a:pPr marL="0" indent="0">
              <a:buNone/>
            </a:pPr>
            <a:r>
              <a:rPr lang="en-GB" dirty="0"/>
              <a:t>- Marketing efficiency gain: </a:t>
            </a:r>
            <a:r>
              <a:rPr lang="en-GB" b="1" dirty="0"/>
              <a:t>**40-50%**</a:t>
            </a:r>
            <a:r>
              <a:rPr lang="en-GB" dirty="0"/>
              <a:t> (reduced waste on low-probability customers)</a:t>
            </a:r>
          </a:p>
          <a:p>
            <a:pPr marL="0" indent="0">
              <a:buNone/>
            </a:pPr>
            <a:r>
              <a:rPr lang="en-GB" dirty="0"/>
              <a:t>- Customer lifetime value increase: </a:t>
            </a:r>
            <a:r>
              <a:rPr lang="en-GB" b="1" dirty="0"/>
              <a:t>**25-35%**</a:t>
            </a:r>
            <a:r>
              <a:rPr lang="en-GB" dirty="0"/>
              <a:t> (cross-sell opportunities)</a:t>
            </a:r>
          </a:p>
          <a:p>
            <a:pPr marL="0" indent="0">
              <a:buNone/>
            </a:pPr>
            <a:r>
              <a:rPr lang="en-GB" dirty="0"/>
              <a:t>- Portfolio risk reduction: </a:t>
            </a:r>
            <a:r>
              <a:rPr lang="en-GB" b="1" dirty="0"/>
              <a:t>**15-20%**</a:t>
            </a:r>
            <a:r>
              <a:rPr lang="en-GB" dirty="0"/>
              <a:t> (better customer selection)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775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60C9-1DAC-4C9D-B739-86D167D2B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847779"/>
          </a:xfrm>
        </p:spPr>
        <p:txBody>
          <a:bodyPr/>
          <a:lstStyle/>
          <a:p>
            <a:r>
              <a:rPr lang="en-GB" b="1" dirty="0"/>
              <a:t>Next Steps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</a:t>
            </a:r>
            <a:r>
              <a:rPr lang="en-GB" b="1" dirty="0"/>
              <a:t>Validate insights</a:t>
            </a:r>
            <a:r>
              <a:rPr lang="en-GB" dirty="0"/>
              <a:t> with small pilot campaign (500 customers)</a:t>
            </a:r>
          </a:p>
          <a:p>
            <a:pPr marL="0" indent="0">
              <a:buNone/>
            </a:pPr>
            <a:r>
              <a:rPr lang="en-GB" dirty="0"/>
              <a:t>2. </a:t>
            </a:r>
            <a:r>
              <a:rPr lang="en-GB" b="1" dirty="0"/>
              <a:t>Develop predictive model</a:t>
            </a:r>
            <a:r>
              <a:rPr lang="en-GB" dirty="0"/>
              <a:t> using regression/classification</a:t>
            </a:r>
          </a:p>
          <a:p>
            <a:pPr marL="0" indent="0">
              <a:buNone/>
            </a:pPr>
            <a:r>
              <a:rPr lang="en-GB" dirty="0"/>
              <a:t>3. </a:t>
            </a:r>
            <a:r>
              <a:rPr lang="en-GB" b="1" dirty="0"/>
              <a:t>Create automated scoring system</a:t>
            </a:r>
            <a:r>
              <a:rPr lang="en-GB" dirty="0"/>
              <a:t> for real-time targeting</a:t>
            </a:r>
          </a:p>
          <a:p>
            <a:pPr marL="0" indent="0">
              <a:buNone/>
            </a:pPr>
            <a:r>
              <a:rPr lang="en-GB" dirty="0"/>
              <a:t>4. </a:t>
            </a:r>
            <a:r>
              <a:rPr lang="en-GB" b="1" dirty="0"/>
              <a:t>Monitor KPIs</a:t>
            </a:r>
            <a:r>
              <a:rPr lang="en-GB" dirty="0"/>
              <a:t> Conversion rate, cost per acquisition, portfolio quality</a:t>
            </a:r>
          </a:p>
          <a:p>
            <a:pPr marL="0" indent="0">
              <a:buNone/>
            </a:pPr>
            <a:r>
              <a:rPr lang="en-GB" dirty="0"/>
              <a:t>5. </a:t>
            </a:r>
            <a:r>
              <a:rPr lang="en-GB" b="1" dirty="0"/>
              <a:t>Iterate quarterly</a:t>
            </a:r>
            <a:r>
              <a:rPr lang="en-GB" dirty="0"/>
              <a:t> based on actual results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236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86F2-445F-5166-9D3E-8E80F9E6E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5400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53424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PresentationFormat>Widescreen</PresentationFormat>
  <Paragraphs>93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Customer Behavior Modeling for Loan Targeting </vt:lpstr>
      <vt:lpstr>Overview</vt:lpstr>
      <vt:lpstr>PowerPoint Presentation</vt:lpstr>
      <vt:lpstr>PowerPoint Presentation</vt:lpstr>
      <vt:lpstr>Bivariate Analysis </vt:lpstr>
      <vt:lpstr>Regression:</vt:lpstr>
      <vt:lpstr>.</vt:lpstr>
      <vt:lpstr>PowerPoint Presentation</vt:lpstr>
      <vt:lpstr>Why Chose XGBoost? </vt:lpstr>
      <vt:lpstr>EXECUTIVE SUMMARY: KEY FINDINGS</vt:lpstr>
      <vt:lpstr>PowerPoint Presentation</vt:lpstr>
      <vt:lpstr>PowerPoint Presentation</vt:lpstr>
      <vt:lpstr>Strategic Recommendations</vt:lpstr>
      <vt:lpstr>PowerPoint Presentation</vt:lpstr>
      <vt:lpstr>Expected Business Impact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shashi shirke</dc:creator>
  <cp:lastModifiedBy>shashi shirke</cp:lastModifiedBy>
  <cp:revision>6</cp:revision>
  <dcterms:created xsi:type="dcterms:W3CDTF">2026-02-16T13:57:22Z</dcterms:created>
  <dcterms:modified xsi:type="dcterms:W3CDTF">2026-02-17T09:14:26Z</dcterms:modified>
</cp:coreProperties>
</file>